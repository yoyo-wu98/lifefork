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50">
                <a:solidFill>
                  <a:srgbClr val="9BA3B5"/>
                </a:solidFill>
                <a:latin typeface="MiSans"/>
                <a:ea typeface="MiSans"/>
              </a:defRPr>
            </a:pPr>
            <a:r>
              <a:t>中国心理健康服务市场规模（亿元）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B08A3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>
                    <a:solidFill>
                      <a:srgbClr val="EDEAE2"/>
                    </a:solidFill>
                    <a:latin typeface="MiSans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2024E</c:v>
                </c:pt>
                <c:pt idx="3">
                  <c:v>2025E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</c:v>
                </c:pt>
                <c:pt idx="1">
                  <c:v>380</c:v>
                </c:pt>
                <c:pt idx="2">
                  <c:v>430</c:v>
                </c:pt>
                <c:pt idx="3">
                  <c:v>500</c:v>
                </c:pt>
              </c:numCache>
            </c:numRef>
          </c:val>
        </c:ser>
        <c:axId val="-2068027336"/>
        <c:axId val="-2113994440"/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A4358"/>
            </a:solidFill>
            <a:prstDash val="solid"/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75">
                <a:solidFill>
                  <a:srgbClr val="54555A"/>
                </a:solidFill>
                <a:latin typeface="MiSans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1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75">
                <a:solidFill>
                  <a:srgbClr val="54555A"/>
                </a:solidFill>
                <a:latin typeface="MiSans"/>
                <a:ea typeface="MiSans"/>
              </a:defRPr>
            </a:pPr>
          </a:p>
        </c:txPr>
        <c:crossAx val="-2068027336"/>
        <c:crosses val="autoZero"/>
      </c:valAx>
    </c:plotArea>
    <c:dispBlanksAs val="gap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rand"/>
          <p:cNvSpPr txBox="1"/>
          <p:nvPr/>
        </p:nvSpPr>
        <p:spPr>
          <a:xfrm>
            <a:off x="762000" y="590550"/>
            <a:ext cx="4000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 spc="300">
                <a:solidFill>
                  <a:srgbClr val="9BA3B5"/>
                </a:solidFill>
                <a:latin typeface="Liter"/>
                <a:ea typeface="MiSans"/>
              </a:rPr>
              <a:t>LIFEFORK · 人生岔路</a:t>
            </a:r>
          </a:p>
        </p:txBody>
      </p:sp>
      <p:sp>
        <p:nvSpPr>
          <p:cNvPr id="3" name="dsl:brandRight"/>
          <p:cNvSpPr txBox="1"/>
          <p:nvPr/>
        </p:nvSpPr>
        <p:spPr>
          <a:xfrm>
            <a:off x="8191500" y="590550"/>
            <a:ext cx="3238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975" noProof="1" spc="225">
                <a:solidFill>
                  <a:srgbClr val="9BA3B5"/>
                </a:solidFill>
                <a:latin typeface="Liter"/>
                <a:ea typeface="MiSans"/>
              </a:rPr>
              <a:t>PUBLIC BETA · 2026</a:t>
            </a:r>
          </a:p>
        </p:txBody>
      </p:sp>
      <p:sp>
        <p:nvSpPr>
          <p:cNvPr id="4" name="dsl:titleMain"/>
          <p:cNvSpPr txBox="1"/>
          <p:nvPr/>
        </p:nvSpPr>
        <p:spPr>
          <a:xfrm>
            <a:off x="762000" y="2000250"/>
            <a:ext cx="8572500" cy="8763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5100" noProof="1">
                <a:solidFill>
                  <a:srgbClr val="EDEAE2"/>
                </a:solidFill>
                <a:latin typeface="siyuanSongti"/>
                <a:ea typeface="siyuanSongti"/>
              </a:rPr>
              <a:t>人生岔路</a:t>
            </a:r>
          </a:p>
        </p:txBody>
      </p:sp>
      <p:sp>
        <p:nvSpPr>
          <p:cNvPr id="5" name="dsl:titleEn"/>
          <p:cNvSpPr txBox="1"/>
          <p:nvPr/>
        </p:nvSpPr>
        <p:spPr>
          <a:xfrm>
            <a:off x="762000" y="3009900"/>
            <a:ext cx="72390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 spc="450">
                <a:solidFill>
                  <a:srgbClr val="B08A3E"/>
                </a:solidFill>
                <a:latin typeface="Liter"/>
                <a:ea typeface="MiSans"/>
              </a:rPr>
              <a:t>EVERY LIFE, WELL-EXAMINED.</a:t>
            </a:r>
          </a:p>
        </p:txBody>
      </p:sp>
      <p:sp>
        <p:nvSpPr>
          <p:cNvPr id="6" name="dsl:tagline"/>
          <p:cNvSpPr txBox="1"/>
          <p:nvPr/>
        </p:nvSpPr>
        <p:spPr>
          <a:xfrm>
            <a:off x="762000" y="3524250"/>
            <a:ext cx="4953000" cy="3238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650" noProof="1">
                <a:solidFill>
                  <a:srgbClr val="EDEAE2"/>
                </a:solidFill>
                <a:latin typeface="MiSans"/>
                <a:ea typeface="MiSans"/>
              </a:rPr>
              <a:t>为每个站在人生岔路口的人，画一张看得懂的地图</a:t>
            </a:r>
          </a:p>
        </p:txBody>
      </p:sp>
      <p:cxnSp>
        <p:nvCxnSpPr>
          <p:cNvPr id="7" name="dsl:pathMain"/>
          <p:cNvCxnSpPr/>
          <p:nvPr/>
        </p:nvCxnSpPr>
        <p:spPr>
          <a:xfrm>
            <a:off x="762000" y="4762500"/>
            <a:ext cx="5334000" cy="0"/>
          </a:xfrm>
          <a:prstGeom prst="straightConnector1">
            <a:avLst/>
          </a:prstGeom>
          <a:ln w="31750">
            <a:solidFill>
              <a:srgbClr val="B08A3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nodeStart"/>
          <p:cNvSpPr/>
          <p:nvPr/>
        </p:nvSpPr>
        <p:spPr>
          <a:xfrm>
            <a:off x="704850" y="4705350"/>
            <a:ext cx="114300" cy="114300"/>
          </a:xfrm>
          <a:prstGeom prst="ellipse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nodeFork"/>
          <p:cNvSpPr/>
          <p:nvPr/>
        </p:nvSpPr>
        <p:spPr>
          <a:xfrm>
            <a:off x="6019800" y="4686300"/>
            <a:ext cx="152400" cy="152400"/>
          </a:xfrm>
          <a:prstGeom prst="ellipse">
            <a:avLst/>
          </a:prstGeom>
          <a:solidFill>
            <a:srgbClr val="1D2333"/>
          </a:solidFill>
          <a:ln w="2540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dsl:branchUp"/>
          <p:cNvCxnSpPr/>
          <p:nvPr/>
        </p:nvCxnSpPr>
        <p:spPr>
          <a:xfrm flipV="1">
            <a:off x="6172200" y="3810000"/>
            <a:ext cx="3619500" cy="952500"/>
          </a:xfrm>
          <a:prstGeom prst="straightConnector1">
            <a:avLst/>
          </a:prstGeom>
          <a:ln w="25400">
            <a:solidFill>
              <a:srgbClr val="7B5EA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branchMid"/>
          <p:cNvCxnSpPr/>
          <p:nvPr/>
        </p:nvCxnSpPr>
        <p:spPr>
          <a:xfrm>
            <a:off x="6172200" y="4762500"/>
            <a:ext cx="3619500" cy="0"/>
          </a:xfrm>
          <a:prstGeom prst="straightConnector1">
            <a:avLst/>
          </a:prstGeom>
          <a:ln w="25400">
            <a:solidFill>
              <a:srgbClr val="B08A3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branchDown"/>
          <p:cNvCxnSpPr/>
          <p:nvPr/>
        </p:nvCxnSpPr>
        <p:spPr>
          <a:xfrm>
            <a:off x="6172200" y="4762500"/>
            <a:ext cx="3619500" cy="952500"/>
          </a:xfrm>
          <a:prstGeom prst="straightConnector1">
            <a:avLst/>
          </a:prstGeom>
          <a:ln w="25400">
            <a:solidFill>
              <a:srgbClr val="3D5A9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nodeEnd1"/>
          <p:cNvSpPr/>
          <p:nvPr/>
        </p:nvSpPr>
        <p:spPr>
          <a:xfrm>
            <a:off x="9734550" y="3752850"/>
            <a:ext cx="114300" cy="1143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nodeEnd2"/>
          <p:cNvSpPr/>
          <p:nvPr/>
        </p:nvSpPr>
        <p:spPr>
          <a:xfrm>
            <a:off x="9734550" y="4705350"/>
            <a:ext cx="114300" cy="114300"/>
          </a:xfrm>
          <a:prstGeom prst="ellipse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nodeEnd3"/>
          <p:cNvSpPr/>
          <p:nvPr/>
        </p:nvSpPr>
        <p:spPr>
          <a:xfrm>
            <a:off x="9734550" y="5657850"/>
            <a:ext cx="114300" cy="114300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labelPast"/>
          <p:cNvSpPr txBox="1"/>
          <p:nvPr/>
        </p:nvSpPr>
        <p:spPr>
          <a:xfrm>
            <a:off x="762000" y="4914900"/>
            <a:ext cx="762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9BA3B5"/>
                </a:solidFill>
                <a:latin typeface="MiSans"/>
                <a:ea typeface="MiSans"/>
              </a:rPr>
              <a:t>过去</a:t>
            </a:r>
          </a:p>
        </p:txBody>
      </p:sp>
      <p:sp>
        <p:nvSpPr>
          <p:cNvPr id="17" name="dsl:labelNow"/>
          <p:cNvSpPr txBox="1"/>
          <p:nvPr/>
        </p:nvSpPr>
        <p:spPr>
          <a:xfrm>
            <a:off x="5334000" y="4972050"/>
            <a:ext cx="762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9BA3B5"/>
                </a:solidFill>
                <a:latin typeface="MiSans"/>
                <a:ea typeface="MiSans"/>
              </a:rPr>
              <a:t>此刻</a:t>
            </a:r>
          </a:p>
        </p:txBody>
      </p:sp>
      <p:sp>
        <p:nvSpPr>
          <p:cNvPr id="18" name="dsl:labelFuture"/>
          <p:cNvSpPr txBox="1"/>
          <p:nvPr/>
        </p:nvSpPr>
        <p:spPr>
          <a:xfrm>
            <a:off x="9944100" y="4705350"/>
            <a:ext cx="1524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9BA3B5"/>
                </a:solidFill>
                <a:latin typeface="MiSans"/>
                <a:ea typeface="MiSans"/>
              </a:rPr>
              <a:t>未来 × N</a:t>
            </a:r>
          </a:p>
        </p:txBody>
      </p:sp>
      <p:sp>
        <p:nvSpPr>
          <p:cNvPr id="19" name="dsl:metaLeft"/>
          <p:cNvSpPr txBox="1"/>
          <p:nvPr/>
        </p:nvSpPr>
        <p:spPr>
          <a:xfrm>
            <a:off x="762000" y="6172200"/>
            <a:ext cx="5905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9BA3B5"/>
                </a:solidFill>
                <a:latin typeface="MiSans"/>
                <a:ea typeface="MiSans"/>
              </a:rPr>
              <a:t>自我分析 · 人生方案模拟 · 分支自我对话</a:t>
            </a:r>
          </a:p>
        </p:txBody>
      </p:sp>
      <p:sp>
        <p:nvSpPr>
          <p:cNvPr id="20" name="dsl:metaRight"/>
          <p:cNvSpPr txBox="1"/>
          <p:nvPr/>
        </p:nvSpPr>
        <p:spPr>
          <a:xfrm>
            <a:off x="7239000" y="6191250"/>
            <a:ext cx="4191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900" noProof="1">
                <a:solidFill>
                  <a:srgbClr val="9BA3B5"/>
                </a:solidFill>
                <a:latin typeface="Liter"/>
                <a:ea typeface="MiSans"/>
              </a:rPr>
              <a:t>lifefork-public-beta.poremansovir.chatgpt.site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THE PROBLEM · 为什么是现在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人生最重要的决定，用着最原始的工具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1tick"/>
          <p:cNvSpPr/>
          <p:nvPr/>
        </p:nvSpPr>
        <p:spPr>
          <a:xfrm>
            <a:off x="762000" y="1638300"/>
            <a:ext cx="3429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1num|s=$number"/>
          <p:cNvSpPr txBox="1"/>
          <p:nvPr/>
        </p:nvSpPr>
        <p:spPr>
          <a:xfrm>
            <a:off x="762000" y="1771650"/>
            <a:ext cx="3352800" cy="609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900" noProof="1">
                <a:solidFill>
                  <a:srgbClr val="232A3D"/>
                </a:solidFill>
                <a:latin typeface="Liter"/>
                <a:ea typeface="MiSans"/>
              </a:rPr>
              <a:t>2–3 亿</a:t>
            </a:r>
          </a:p>
        </p:txBody>
      </p:sp>
      <p:sp>
        <p:nvSpPr>
          <p:cNvPr id="7" name="dsl:s1label|s=$small"/>
          <p:cNvSpPr txBox="1"/>
          <p:nvPr/>
        </p:nvSpPr>
        <p:spPr>
          <a:xfrm>
            <a:off x="762000" y="2438400"/>
            <a:ext cx="3352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国内有心理困扰的人群，其中泛心理问题人群约 9500 万</a:t>
            </a:r>
          </a:p>
        </p:txBody>
      </p:sp>
      <p:sp>
        <p:nvSpPr>
          <p:cNvPr id="8" name="dsl:s2tick"/>
          <p:cNvSpPr/>
          <p:nvPr/>
        </p:nvSpPr>
        <p:spPr>
          <a:xfrm>
            <a:off x="4419600" y="1638300"/>
            <a:ext cx="3429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s2num|s=$number"/>
          <p:cNvSpPr txBox="1"/>
          <p:nvPr/>
        </p:nvSpPr>
        <p:spPr>
          <a:xfrm>
            <a:off x="4419600" y="1771650"/>
            <a:ext cx="3352800" cy="609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900" noProof="1">
                <a:solidFill>
                  <a:srgbClr val="232A3D"/>
                </a:solidFill>
                <a:latin typeface="Liter"/>
                <a:ea typeface="MiSans"/>
              </a:rPr>
              <a:t>9.5%</a:t>
            </a:r>
          </a:p>
        </p:txBody>
      </p:sp>
      <p:sp>
        <p:nvSpPr>
          <p:cNvPr id="10" name="dsl:s2label|s=$small"/>
          <p:cNvSpPr txBox="1"/>
          <p:nvPr/>
        </p:nvSpPr>
        <p:spPr>
          <a:xfrm>
            <a:off x="4419600" y="2438400"/>
            <a:ext cx="3352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我国抑郁症患者治疗率，高收入国家约为 50%</a:t>
            </a:r>
          </a:p>
        </p:txBody>
      </p:sp>
      <p:sp>
        <p:nvSpPr>
          <p:cNvPr id="11" name="dsl:s3tick"/>
          <p:cNvSpPr/>
          <p:nvPr/>
        </p:nvSpPr>
        <p:spPr>
          <a:xfrm>
            <a:off x="8077200" y="1638300"/>
            <a:ext cx="3429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3num|s=$number"/>
          <p:cNvSpPr txBox="1"/>
          <p:nvPr/>
        </p:nvSpPr>
        <p:spPr>
          <a:xfrm>
            <a:off x="8077200" y="1771650"/>
            <a:ext cx="3352800" cy="609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900" noProof="1">
                <a:solidFill>
                  <a:srgbClr val="232A3D"/>
                </a:solidFill>
                <a:latin typeface="Liter"/>
                <a:ea typeface="MiSans"/>
              </a:rPr>
              <a:t>20 人</a:t>
            </a:r>
          </a:p>
        </p:txBody>
      </p:sp>
      <p:sp>
        <p:nvSpPr>
          <p:cNvPr id="13" name="dsl:s3label|s=$small"/>
          <p:cNvSpPr txBox="1"/>
          <p:nvPr/>
        </p:nvSpPr>
        <p:spPr>
          <a:xfrm>
            <a:off x="8077200" y="2438400"/>
            <a:ext cx="3352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每百万人口可提供心理服务的人数，美国约为 1000 人</a:t>
            </a:r>
          </a:p>
        </p:txBody>
      </p:sp>
      <p:cxnSp>
        <p:nvCxnSpPr>
          <p:cNvPr id="14" name="dsl:divider"/>
          <p:cNvCxnSpPr/>
          <p:nvPr/>
        </p:nvCxnSpPr>
        <p:spPr>
          <a:xfrm>
            <a:off x="762000" y="3162300"/>
            <a:ext cx="10668000" cy="0"/>
          </a:xfrm>
          <a:prstGeom prst="straightConnector1">
            <a:avLst/>
          </a:prstGeom>
          <a:ln w="12700">
            <a:solidFill>
              <a:srgbClr val="D8D5C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sectionLabel"/>
          <p:cNvSpPr txBox="1"/>
          <p:nvPr/>
        </p:nvSpPr>
        <p:spPr>
          <a:xfrm>
            <a:off x="762000" y="335280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425" noProof="1">
                <a:solidFill>
                  <a:srgbClr val="232A3D"/>
                </a:solidFill>
                <a:latin typeface="siyuanSongti"/>
                <a:ea typeface="siyuanSongti"/>
              </a:rPr>
              <a:t>现有的三个选项，都不及格</a:t>
            </a:r>
          </a:p>
        </p:txBody>
      </p:sp>
      <p:pic>
        <p:nvPicPr>
          <p:cNvPr id="16" name="dsl:c1icon|i=fas:user-clock" descr="tmpojw959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338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c1title"/>
          <p:cNvSpPr txBox="1"/>
          <p:nvPr/>
        </p:nvSpPr>
        <p:spPr>
          <a:xfrm>
            <a:off x="1143000" y="3743325"/>
            <a:ext cx="2971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心理咨询 · 有效但稀缺</a:t>
            </a:r>
          </a:p>
        </p:txBody>
      </p:sp>
      <p:sp>
        <p:nvSpPr>
          <p:cNvPr id="18" name="dsl:c1desc"/>
          <p:cNvSpPr txBox="1"/>
          <p:nvPr/>
        </p:nvSpPr>
        <p:spPr>
          <a:xfrm>
            <a:off x="762000" y="4152900"/>
            <a:ext cx="33528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单次咨询数百元起，资源集中在一线城市，预约等待以周计。对大多数站在岔路口的人来说，门槛太高。</a:t>
            </a:r>
          </a:p>
        </p:txBody>
      </p:sp>
      <p:pic>
        <p:nvPicPr>
          <p:cNvPr id="19" name="dsl:c2icon|i=fas:dice" descr="tmpojw959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7338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c2title"/>
          <p:cNvSpPr txBox="1"/>
          <p:nvPr/>
        </p:nvSpPr>
        <p:spPr>
          <a:xfrm>
            <a:off x="4800600" y="3743325"/>
            <a:ext cx="2971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测评与占星 · 轻松但不可信</a:t>
            </a:r>
          </a:p>
        </p:txBody>
      </p:sp>
      <p:sp>
        <p:nvSpPr>
          <p:cNvPr id="21" name="dsl:c2desc"/>
          <p:cNvSpPr txBox="1"/>
          <p:nvPr/>
        </p:nvSpPr>
        <p:spPr>
          <a:xfrm>
            <a:off x="4419600" y="4152900"/>
            <a:ext cx="33528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静态标签加巴纳姆效应：好玩，但不提供证据，也无需为结论负责。测完之后，人生还是停在原地。</a:t>
            </a:r>
          </a:p>
        </p:txBody>
      </p:sp>
      <p:pic>
        <p:nvPicPr>
          <p:cNvPr id="22" name="dsl:c3icon|i=fas:robot" descr="tmpojw959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7338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c3title"/>
          <p:cNvSpPr txBox="1"/>
          <p:nvPr/>
        </p:nvSpPr>
        <p:spPr>
          <a:xfrm>
            <a:off x="8458200" y="3743325"/>
            <a:ext cx="2971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通用 AI 聊天 · 聪明但没结构</a:t>
            </a:r>
          </a:p>
        </p:txBody>
      </p:sp>
      <p:sp>
        <p:nvSpPr>
          <p:cNvPr id="24" name="dsl:c3desc"/>
          <p:cNvSpPr txBox="1"/>
          <p:nvPr/>
        </p:nvSpPr>
        <p:spPr>
          <a:xfrm>
            <a:off x="8077200" y="4152900"/>
            <a:ext cx="33528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对话结束就散场：不沉淀、不可追溯、没有证据链，更无法比较不同选择各自的收益与代价。</a:t>
            </a:r>
          </a:p>
        </p:txBody>
      </p:sp>
      <p:sp>
        <p:nvSpPr>
          <p:cNvPr id="25" name="dsl:source"/>
          <p:cNvSpPr txBox="1"/>
          <p:nvPr/>
        </p:nvSpPr>
        <p:spPr>
          <a:xfrm>
            <a:off x="762000" y="6172200"/>
            <a:ext cx="9334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数据来源：观研天下《中国心理健康服务行业深度研究报告（2025）》、中国国民心理健康发展报告（2021–2022）</a:t>
            </a:r>
          </a:p>
        </p:txBody>
      </p:sp>
      <p:sp>
        <p:nvSpPr>
          <p:cNvPr id="26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27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THE SOLUTION · 产品是什么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十分钟，五个问题，一张看得懂的人生地图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intro|s=$body"/>
          <p:cNvSpPr txBox="1"/>
          <p:nvPr/>
        </p:nvSpPr>
        <p:spPr>
          <a:xfrm>
            <a:off x="762000" y="1581150"/>
            <a:ext cx="5715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32A3D"/>
                </a:solidFill>
                <a:latin typeface="MiSans"/>
                <a:ea typeface="MiSans"/>
              </a:rPr>
              <a:t>LifeFork 是一个自我分析与人生方案模拟产品，面向正在经历职业、关系、迁徙、创作或身份转折的成年人。回答五个核心问题，即可生成一份可编辑的 Self Skill，并由此展开时间线、人生地图与分支自我对话。</a:t>
            </a:r>
          </a:p>
        </p:txBody>
      </p:sp>
      <p:sp>
        <p:nvSpPr>
          <p:cNvPr id="6" name="dsl:i1num"/>
          <p:cNvSpPr txBox="1"/>
          <p:nvPr/>
        </p:nvSpPr>
        <p:spPr>
          <a:xfrm>
            <a:off x="762000" y="2971800"/>
            <a:ext cx="4572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650" noProof="1">
                <a:solidFill>
                  <a:srgbClr val="B08A3E"/>
                </a:solidFill>
                <a:latin typeface="Liter"/>
                <a:ea typeface="MiSans"/>
              </a:rPr>
              <a:t>01</a:t>
            </a:r>
          </a:p>
        </p:txBody>
      </p:sp>
      <p:sp>
        <p:nvSpPr>
          <p:cNvPr id="7" name="dsl:i1title"/>
          <p:cNvSpPr txBox="1"/>
          <p:nvPr/>
        </p:nvSpPr>
        <p:spPr>
          <a:xfrm>
            <a:off x="1295400" y="2971800"/>
            <a:ext cx="28575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说清楚此刻</a:t>
            </a:r>
          </a:p>
        </p:txBody>
      </p:sp>
      <p:sp>
        <p:nvSpPr>
          <p:cNvPr id="8" name="dsl:i1desc"/>
          <p:cNvSpPr txBox="1"/>
          <p:nvPr/>
        </p:nvSpPr>
        <p:spPr>
          <a:xfrm>
            <a:off x="1295400" y="3276600"/>
            <a:ext cx="51816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把模糊的焦虑，整理成可以描述的自我状态。</a:t>
            </a:r>
          </a:p>
        </p:txBody>
      </p:sp>
      <p:sp>
        <p:nvSpPr>
          <p:cNvPr id="9" name="dsl:i2num"/>
          <p:cNvSpPr txBox="1"/>
          <p:nvPr/>
        </p:nvSpPr>
        <p:spPr>
          <a:xfrm>
            <a:off x="762000" y="3695700"/>
            <a:ext cx="4572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650" noProof="1">
                <a:solidFill>
                  <a:srgbClr val="B08A3E"/>
                </a:solidFill>
                <a:latin typeface="Liter"/>
                <a:ea typeface="MiSans"/>
              </a:rPr>
              <a:t>02</a:t>
            </a:r>
          </a:p>
        </p:txBody>
      </p:sp>
      <p:sp>
        <p:nvSpPr>
          <p:cNvPr id="10" name="dsl:i2title"/>
          <p:cNvSpPr txBox="1"/>
          <p:nvPr/>
        </p:nvSpPr>
        <p:spPr>
          <a:xfrm>
            <a:off x="1295400" y="3695700"/>
            <a:ext cx="28575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看见模式</a:t>
            </a:r>
          </a:p>
        </p:txBody>
      </p:sp>
      <p:sp>
        <p:nvSpPr>
          <p:cNvPr id="11" name="dsl:i2desc"/>
          <p:cNvSpPr txBox="1"/>
          <p:nvPr/>
        </p:nvSpPr>
        <p:spPr>
          <a:xfrm>
            <a:off x="1295400" y="4000500"/>
            <a:ext cx="51816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反复出现的人生模式，连同证据一起呈现。</a:t>
            </a:r>
          </a:p>
        </p:txBody>
      </p:sp>
      <p:sp>
        <p:nvSpPr>
          <p:cNvPr id="12" name="dsl:i3num"/>
          <p:cNvSpPr txBox="1"/>
          <p:nvPr/>
        </p:nvSpPr>
        <p:spPr>
          <a:xfrm>
            <a:off x="762000" y="4419600"/>
            <a:ext cx="4572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650" noProof="1">
                <a:solidFill>
                  <a:srgbClr val="B08A3E"/>
                </a:solidFill>
                <a:latin typeface="Liter"/>
                <a:ea typeface="MiSans"/>
              </a:rPr>
              <a:t>03</a:t>
            </a:r>
          </a:p>
        </p:txBody>
      </p:sp>
      <p:sp>
        <p:nvSpPr>
          <p:cNvPr id="13" name="dsl:i3title"/>
          <p:cNvSpPr txBox="1"/>
          <p:nvPr/>
        </p:nvSpPr>
        <p:spPr>
          <a:xfrm>
            <a:off x="1295400" y="4419600"/>
            <a:ext cx="28575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探索路径</a:t>
            </a:r>
          </a:p>
        </p:txBody>
      </p:sp>
      <p:sp>
        <p:nvSpPr>
          <p:cNvPr id="14" name="dsl:i3desc"/>
          <p:cNvSpPr txBox="1"/>
          <p:nvPr/>
        </p:nvSpPr>
        <p:spPr>
          <a:xfrm>
            <a:off x="1295400" y="4724400"/>
            <a:ext cx="51816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比较不同时间尺度下的收益、代价与行动实验。</a:t>
            </a:r>
          </a:p>
        </p:txBody>
      </p:sp>
      <p:sp>
        <p:nvSpPr>
          <p:cNvPr id="15" name="dsl:i4num"/>
          <p:cNvSpPr txBox="1"/>
          <p:nvPr/>
        </p:nvSpPr>
        <p:spPr>
          <a:xfrm>
            <a:off x="762000" y="5143500"/>
            <a:ext cx="4572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650" noProof="1">
                <a:solidFill>
                  <a:srgbClr val="B08A3E"/>
                </a:solidFill>
                <a:latin typeface="Liter"/>
                <a:ea typeface="MiSans"/>
              </a:rPr>
              <a:t>04</a:t>
            </a:r>
          </a:p>
        </p:txBody>
      </p:sp>
      <p:sp>
        <p:nvSpPr>
          <p:cNvPr id="16" name="dsl:i4title"/>
          <p:cNvSpPr txBox="1"/>
          <p:nvPr/>
        </p:nvSpPr>
        <p:spPr>
          <a:xfrm>
            <a:off x="1295400" y="5143500"/>
            <a:ext cx="28575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与自己对话</a:t>
            </a:r>
          </a:p>
        </p:txBody>
      </p:sp>
      <p:sp>
        <p:nvSpPr>
          <p:cNvPr id="17" name="dsl:i4desc"/>
          <p:cNvSpPr txBox="1"/>
          <p:nvPr/>
        </p:nvSpPr>
        <p:spPr>
          <a:xfrm>
            <a:off x="1295400" y="5448300"/>
            <a:ext cx="51816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和过去、未来、未选择路径中的自己交谈。</a:t>
            </a:r>
          </a:p>
        </p:txBody>
      </p:sp>
      <p:sp>
        <p:nvSpPr>
          <p:cNvPr id="18" name="dsl:panel"/>
          <p:cNvSpPr/>
          <p:nvPr/>
        </p:nvSpPr>
        <p:spPr>
          <a:xfrm>
            <a:off x="6858000" y="1581150"/>
            <a:ext cx="4572000" cy="4076700"/>
          </a:xfrm>
          <a:prstGeom prst="rect">
            <a:avLst/>
          </a:prstGeom>
          <a:solidFill>
            <a:srgbClr val="1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anelLabel"/>
          <p:cNvSpPr txBox="1"/>
          <p:nvPr/>
        </p:nvSpPr>
        <p:spPr>
          <a:xfrm>
            <a:off x="7162800" y="1847850"/>
            <a:ext cx="2286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225">
                <a:solidFill>
                  <a:srgbClr val="B08A3E"/>
                </a:solidFill>
                <a:latin typeface="MiSans"/>
                <a:ea typeface="MiSans"/>
              </a:rPr>
              <a:t>产品闭环</a:t>
            </a:r>
          </a:p>
        </p:txBody>
      </p:sp>
      <p:cxnSp>
        <p:nvCxnSpPr>
          <p:cNvPr id="20" name="dsl:panelLine"/>
          <p:cNvCxnSpPr/>
          <p:nvPr/>
        </p:nvCxnSpPr>
        <p:spPr>
          <a:xfrm>
            <a:off x="7296150" y="2343150"/>
            <a:ext cx="0" cy="209550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pn1"/>
          <p:cNvSpPr/>
          <p:nvPr/>
        </p:nvSpPr>
        <p:spPr>
          <a:xfrm>
            <a:off x="7219950" y="2266950"/>
            <a:ext cx="152400" cy="152400"/>
          </a:xfrm>
          <a:prstGeom prst="ellipse">
            <a:avLst/>
          </a:prstGeom>
          <a:solidFill>
            <a:srgbClr val="1D2333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pt1"/>
          <p:cNvSpPr txBox="1"/>
          <p:nvPr/>
        </p:nvSpPr>
        <p:spPr>
          <a:xfrm>
            <a:off x="7543800" y="2228850"/>
            <a:ext cx="3810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EDEAE2"/>
                </a:solidFill>
                <a:latin typeface="MiSans"/>
                <a:ea typeface="MiSans"/>
              </a:rPr>
              <a:t>五个核心问题</a:t>
            </a:r>
          </a:p>
        </p:txBody>
      </p:sp>
      <p:sp>
        <p:nvSpPr>
          <p:cNvPr id="23" name="dsl:ps1"/>
          <p:cNvSpPr txBox="1"/>
          <p:nvPr/>
        </p:nvSpPr>
        <p:spPr>
          <a:xfrm>
            <a:off x="7543800" y="2476500"/>
            <a:ext cx="3810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9BA3B5"/>
                </a:solidFill>
                <a:latin typeface="MiSans"/>
                <a:ea typeface="MiSans"/>
              </a:rPr>
              <a:t>十分钟 · 对话式提问 · 可选补充材料</a:t>
            </a:r>
          </a:p>
        </p:txBody>
      </p:sp>
      <p:sp>
        <p:nvSpPr>
          <p:cNvPr id="24" name="dsl:pn2"/>
          <p:cNvSpPr/>
          <p:nvPr/>
        </p:nvSpPr>
        <p:spPr>
          <a:xfrm>
            <a:off x="7219950" y="2952750"/>
            <a:ext cx="152400" cy="152400"/>
          </a:xfrm>
          <a:prstGeom prst="ellipse">
            <a:avLst/>
          </a:prstGeom>
          <a:solidFill>
            <a:srgbClr val="1D2333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pt2"/>
          <p:cNvSpPr txBox="1"/>
          <p:nvPr/>
        </p:nvSpPr>
        <p:spPr>
          <a:xfrm>
            <a:off x="7543800" y="2914650"/>
            <a:ext cx="3810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EDEAE2"/>
                </a:solidFill>
                <a:latin typeface="MiSans"/>
                <a:ea typeface="MiSans"/>
              </a:rPr>
              <a:t>Self Skill 自我档案</a:t>
            </a:r>
          </a:p>
        </p:txBody>
      </p:sp>
      <p:sp>
        <p:nvSpPr>
          <p:cNvPr id="26" name="dsl:ps2"/>
          <p:cNvSpPr txBox="1"/>
          <p:nvPr/>
        </p:nvSpPr>
        <p:spPr>
          <a:xfrm>
            <a:off x="7543800" y="3162300"/>
            <a:ext cx="3810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9BA3B5"/>
                </a:solidFill>
                <a:latin typeface="MiSans"/>
                <a:ea typeface="MiSans"/>
              </a:rPr>
              <a:t>可编辑 · 可删除 · 可导出 JSON</a:t>
            </a:r>
          </a:p>
        </p:txBody>
      </p:sp>
      <p:sp>
        <p:nvSpPr>
          <p:cNvPr id="27" name="dsl:pn3"/>
          <p:cNvSpPr/>
          <p:nvPr/>
        </p:nvSpPr>
        <p:spPr>
          <a:xfrm>
            <a:off x="7219950" y="3638550"/>
            <a:ext cx="152400" cy="152400"/>
          </a:xfrm>
          <a:prstGeom prst="ellipse">
            <a:avLst/>
          </a:prstGeom>
          <a:solidFill>
            <a:srgbClr val="1D2333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pt3"/>
          <p:cNvSpPr txBox="1"/>
          <p:nvPr/>
        </p:nvSpPr>
        <p:spPr>
          <a:xfrm>
            <a:off x="7543800" y="3600450"/>
            <a:ext cx="3810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EDEAE2"/>
                </a:solidFill>
                <a:latin typeface="MiSans"/>
                <a:ea typeface="MiSans"/>
              </a:rPr>
              <a:t>时间线 × 人生地图</a:t>
            </a:r>
          </a:p>
        </p:txBody>
      </p:sp>
      <p:sp>
        <p:nvSpPr>
          <p:cNvPr id="29" name="dsl:ps3"/>
          <p:cNvSpPr txBox="1"/>
          <p:nvPr/>
        </p:nvSpPr>
        <p:spPr>
          <a:xfrm>
            <a:off x="7543800" y="3848100"/>
            <a:ext cx="3810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9BA3B5"/>
                </a:solidFill>
                <a:latin typeface="MiSans"/>
                <a:ea typeface="MiSans"/>
              </a:rPr>
              <a:t>八级时间尺度 · 收益 / 代价 / 未知</a:t>
            </a:r>
          </a:p>
        </p:txBody>
      </p:sp>
      <p:sp>
        <p:nvSpPr>
          <p:cNvPr id="30" name="dsl:pn4"/>
          <p:cNvSpPr/>
          <p:nvPr/>
        </p:nvSpPr>
        <p:spPr>
          <a:xfrm>
            <a:off x="7219950" y="4324350"/>
            <a:ext cx="152400" cy="152400"/>
          </a:xfrm>
          <a:prstGeom prst="ellipse">
            <a:avLst/>
          </a:prstGeom>
          <a:solidFill>
            <a:srgbClr val="1D2333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pt4"/>
          <p:cNvSpPr txBox="1"/>
          <p:nvPr/>
        </p:nvSpPr>
        <p:spPr>
          <a:xfrm>
            <a:off x="7543800" y="4286250"/>
            <a:ext cx="3810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EDEAE2"/>
                </a:solidFill>
                <a:latin typeface="MiSans"/>
                <a:ea typeface="MiSans"/>
              </a:rPr>
              <a:t>分支自我对话</a:t>
            </a:r>
          </a:p>
        </p:txBody>
      </p:sp>
      <p:sp>
        <p:nvSpPr>
          <p:cNvPr id="32" name="dsl:ps4"/>
          <p:cNvSpPr txBox="1"/>
          <p:nvPr/>
        </p:nvSpPr>
        <p:spPr>
          <a:xfrm>
            <a:off x="7543800" y="4533900"/>
            <a:ext cx="3810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9BA3B5"/>
                </a:solidFill>
                <a:latin typeface="MiSans"/>
                <a:ea typeface="MiSans"/>
              </a:rPr>
              <a:t>与另一个自己交谈 · 持续校准语气</a:t>
            </a:r>
          </a:p>
        </p:txBody>
      </p:sp>
      <p:sp>
        <p:nvSpPr>
          <p:cNvPr id="33" name="dsl:panelNote"/>
          <p:cNvSpPr txBox="1"/>
          <p:nvPr/>
        </p:nvSpPr>
        <p:spPr>
          <a:xfrm>
            <a:off x="7162800" y="5143500"/>
            <a:ext cx="39624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9BA3B5"/>
                </a:solidFill>
                <a:latin typeface="MiSans"/>
                <a:ea typeface="MiSans"/>
              </a:rPr>
              <a:t>无需注册 · 数据保存在本地浏览器 · 断网可用核心流程</a:t>
            </a:r>
          </a:p>
        </p:txBody>
      </p:sp>
      <p:sp>
        <p:nvSpPr>
          <p:cNvPr id="34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35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EXPERIENCE · 十分钟闭环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从回答到对话：第一次使用就走完全程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ard1"/>
          <p:cNvSpPr/>
          <p:nvPr/>
        </p:nvSpPr>
        <p:spPr>
          <a:xfrm>
            <a:off x="762000" y="1619250"/>
            <a:ext cx="2505075" cy="28575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1num"/>
          <p:cNvSpPr txBox="1"/>
          <p:nvPr/>
        </p:nvSpPr>
        <p:spPr>
          <a:xfrm>
            <a:off x="990600" y="1847850"/>
            <a:ext cx="5715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000" noProof="1">
                <a:solidFill>
                  <a:srgbClr val="B08A3E"/>
                </a:solidFill>
                <a:latin typeface="Liter"/>
                <a:ea typeface="MiSans"/>
              </a:rPr>
              <a:t>1</a:t>
            </a:r>
          </a:p>
        </p:txBody>
      </p:sp>
      <p:sp>
        <p:nvSpPr>
          <p:cNvPr id="7" name="dsl:c1title"/>
          <p:cNvSpPr txBox="1"/>
          <p:nvPr/>
        </p:nvSpPr>
        <p:spPr>
          <a:xfrm>
            <a:off x="990600" y="2362200"/>
            <a:ext cx="2047875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500" noProof="1">
                <a:solidFill>
                  <a:srgbClr val="232A3D"/>
                </a:solidFill>
                <a:latin typeface="MiSans"/>
                <a:ea typeface="MiSans"/>
              </a:rPr>
              <a:t>回答五问</a:t>
            </a:r>
          </a:p>
        </p:txBody>
      </p:sp>
      <p:sp>
        <p:nvSpPr>
          <p:cNvPr id="8" name="dsl:c1desc"/>
          <p:cNvSpPr txBox="1"/>
          <p:nvPr/>
        </p:nvSpPr>
        <p:spPr>
          <a:xfrm>
            <a:off x="990600" y="2705100"/>
            <a:ext cx="2047875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每次只问一个问题，十分钟内完成。可追加灵感标签、补充日记或微信脱敏摘要。</a:t>
            </a:r>
          </a:p>
        </p:txBody>
      </p:sp>
      <p:sp>
        <p:nvSpPr>
          <p:cNvPr id="9" name="dsl:c1chip"/>
          <p:cNvSpPr/>
          <p:nvPr/>
        </p:nvSpPr>
        <p:spPr>
          <a:xfrm>
            <a:off x="990600" y="4038600"/>
            <a:ext cx="533400" cy="247650"/>
          </a:xfrm>
          <a:prstGeom prst="rect">
            <a:avLst/>
          </a:prstGeom>
          <a:solidFill>
            <a:srgbClr val="F0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1chipText"/>
          <p:cNvSpPr txBox="1"/>
          <p:nvPr/>
        </p:nvSpPr>
        <p:spPr>
          <a:xfrm>
            <a:off x="990600" y="4086225"/>
            <a:ext cx="5334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900" noProof="1">
                <a:solidFill>
                  <a:srgbClr val="B08A3E"/>
                </a:solidFill>
                <a:latin typeface="MiSans"/>
                <a:ea typeface="MiSans"/>
              </a:rPr>
              <a:t>输入</a:t>
            </a:r>
          </a:p>
        </p:txBody>
      </p:sp>
      <p:cxnSp>
        <p:nvCxnSpPr>
          <p:cNvPr id="11" name="dsl:arrow1"/>
          <p:cNvCxnSpPr/>
          <p:nvPr/>
        </p:nvCxnSpPr>
        <p:spPr>
          <a:xfrm>
            <a:off x="3295650" y="3048000"/>
            <a:ext cx="171450" cy="0"/>
          </a:xfrm>
          <a:prstGeom prst="straightConnector1">
            <a:avLst/>
          </a:prstGeom>
          <a:ln w="19050">
            <a:solidFill>
              <a:srgbClr val="9AA0B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card2"/>
          <p:cNvSpPr/>
          <p:nvPr/>
        </p:nvSpPr>
        <p:spPr>
          <a:xfrm>
            <a:off x="3495675" y="1619250"/>
            <a:ext cx="2505075" cy="28575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2num"/>
          <p:cNvSpPr txBox="1"/>
          <p:nvPr/>
        </p:nvSpPr>
        <p:spPr>
          <a:xfrm>
            <a:off x="3724275" y="1847850"/>
            <a:ext cx="5715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000" noProof="1">
                <a:solidFill>
                  <a:srgbClr val="B08A3E"/>
                </a:solidFill>
                <a:latin typeface="Liter"/>
                <a:ea typeface="MiSans"/>
              </a:rPr>
              <a:t>2</a:t>
            </a:r>
          </a:p>
        </p:txBody>
      </p:sp>
      <p:sp>
        <p:nvSpPr>
          <p:cNvPr id="14" name="dsl:c2title"/>
          <p:cNvSpPr txBox="1"/>
          <p:nvPr/>
        </p:nvSpPr>
        <p:spPr>
          <a:xfrm>
            <a:off x="3724275" y="2362200"/>
            <a:ext cx="2047875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500" noProof="1">
                <a:solidFill>
                  <a:srgbClr val="232A3D"/>
                </a:solidFill>
                <a:latin typeface="MiSans"/>
                <a:ea typeface="MiSans"/>
              </a:rPr>
              <a:t>生成 Self Skill</a:t>
            </a:r>
          </a:p>
        </p:txBody>
      </p:sp>
      <p:sp>
        <p:nvSpPr>
          <p:cNvPr id="15" name="dsl:c2desc"/>
          <p:cNvSpPr txBox="1"/>
          <p:nvPr/>
        </p:nvSpPr>
        <p:spPr>
          <a:xfrm>
            <a:off x="3724275" y="2705100"/>
            <a:ext cx="2047875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本地规则与服务器 AI 协同，产出可编辑的自我画像与阶段时间线。</a:t>
            </a:r>
          </a:p>
        </p:txBody>
      </p:sp>
      <p:sp>
        <p:nvSpPr>
          <p:cNvPr id="16" name="dsl:c2chip"/>
          <p:cNvSpPr/>
          <p:nvPr/>
        </p:nvSpPr>
        <p:spPr>
          <a:xfrm>
            <a:off x="3724275" y="4038600"/>
            <a:ext cx="533400" cy="247650"/>
          </a:xfrm>
          <a:prstGeom prst="rect">
            <a:avLst/>
          </a:prstGeom>
          <a:solidFill>
            <a:srgbClr val="F0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2chipText"/>
          <p:cNvSpPr txBox="1"/>
          <p:nvPr/>
        </p:nvSpPr>
        <p:spPr>
          <a:xfrm>
            <a:off x="3724275" y="4086225"/>
            <a:ext cx="5334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900" noProof="1">
                <a:solidFill>
                  <a:srgbClr val="B08A3E"/>
                </a:solidFill>
                <a:latin typeface="MiSans"/>
                <a:ea typeface="MiSans"/>
              </a:rPr>
              <a:t>沉淀</a:t>
            </a:r>
          </a:p>
        </p:txBody>
      </p:sp>
      <p:cxnSp>
        <p:nvCxnSpPr>
          <p:cNvPr id="18" name="dsl:arrow2"/>
          <p:cNvCxnSpPr/>
          <p:nvPr/>
        </p:nvCxnSpPr>
        <p:spPr>
          <a:xfrm>
            <a:off x="6029325" y="3048000"/>
            <a:ext cx="171450" cy="0"/>
          </a:xfrm>
          <a:prstGeom prst="straightConnector1">
            <a:avLst/>
          </a:prstGeom>
          <a:ln w="19050">
            <a:solidFill>
              <a:srgbClr val="9AA0B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card3"/>
          <p:cNvSpPr/>
          <p:nvPr/>
        </p:nvSpPr>
        <p:spPr>
          <a:xfrm>
            <a:off x="6229350" y="1619250"/>
            <a:ext cx="2505075" cy="28575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c3num"/>
          <p:cNvSpPr txBox="1"/>
          <p:nvPr/>
        </p:nvSpPr>
        <p:spPr>
          <a:xfrm>
            <a:off x="6457950" y="1847850"/>
            <a:ext cx="5715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000" noProof="1">
                <a:solidFill>
                  <a:srgbClr val="B08A3E"/>
                </a:solidFill>
                <a:latin typeface="Liter"/>
                <a:ea typeface="MiSans"/>
              </a:rPr>
              <a:t>3</a:t>
            </a:r>
          </a:p>
        </p:txBody>
      </p:sp>
      <p:sp>
        <p:nvSpPr>
          <p:cNvPr id="21" name="dsl:c3title"/>
          <p:cNvSpPr txBox="1"/>
          <p:nvPr/>
        </p:nvSpPr>
        <p:spPr>
          <a:xfrm>
            <a:off x="6457950" y="2362200"/>
            <a:ext cx="2047875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500" noProof="1">
                <a:solidFill>
                  <a:srgbClr val="232A3D"/>
                </a:solidFill>
                <a:latin typeface="MiSans"/>
                <a:ea typeface="MiSans"/>
              </a:rPr>
              <a:t>打开人生地图</a:t>
            </a:r>
          </a:p>
        </p:txBody>
      </p:sp>
      <p:sp>
        <p:nvSpPr>
          <p:cNvPr id="22" name="dsl:c3desc"/>
          <p:cNvSpPr txBox="1"/>
          <p:nvPr/>
        </p:nvSpPr>
        <p:spPr>
          <a:xfrm>
            <a:off x="6457950" y="2705100"/>
            <a:ext cx="2047875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八级时间尺度自由缩放，每条分支标注收益、代价与未知因素。</a:t>
            </a:r>
          </a:p>
        </p:txBody>
      </p:sp>
      <p:sp>
        <p:nvSpPr>
          <p:cNvPr id="23" name="dsl:c3chip"/>
          <p:cNvSpPr/>
          <p:nvPr/>
        </p:nvSpPr>
        <p:spPr>
          <a:xfrm>
            <a:off x="6457950" y="4038600"/>
            <a:ext cx="533400" cy="247650"/>
          </a:xfrm>
          <a:prstGeom prst="rect">
            <a:avLst/>
          </a:prstGeom>
          <a:solidFill>
            <a:srgbClr val="F0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c3chipText"/>
          <p:cNvSpPr txBox="1"/>
          <p:nvPr/>
        </p:nvSpPr>
        <p:spPr>
          <a:xfrm>
            <a:off x="6457950" y="4086225"/>
            <a:ext cx="5334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900" noProof="1">
                <a:solidFill>
                  <a:srgbClr val="B08A3E"/>
                </a:solidFill>
                <a:latin typeface="MiSans"/>
                <a:ea typeface="MiSans"/>
              </a:rPr>
              <a:t>探索</a:t>
            </a:r>
          </a:p>
        </p:txBody>
      </p:sp>
      <p:cxnSp>
        <p:nvCxnSpPr>
          <p:cNvPr id="25" name="dsl:arrow3"/>
          <p:cNvCxnSpPr/>
          <p:nvPr/>
        </p:nvCxnSpPr>
        <p:spPr>
          <a:xfrm>
            <a:off x="8763000" y="3048000"/>
            <a:ext cx="171450" cy="0"/>
          </a:xfrm>
          <a:prstGeom prst="straightConnector1">
            <a:avLst/>
          </a:prstGeom>
          <a:ln w="19050">
            <a:solidFill>
              <a:srgbClr val="9AA0B0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card4"/>
          <p:cNvSpPr/>
          <p:nvPr/>
        </p:nvSpPr>
        <p:spPr>
          <a:xfrm>
            <a:off x="8963025" y="1619250"/>
            <a:ext cx="2505075" cy="28575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c4num"/>
          <p:cNvSpPr txBox="1"/>
          <p:nvPr/>
        </p:nvSpPr>
        <p:spPr>
          <a:xfrm>
            <a:off x="9191625" y="1847850"/>
            <a:ext cx="5715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000" noProof="1">
                <a:solidFill>
                  <a:srgbClr val="B08A3E"/>
                </a:solidFill>
                <a:latin typeface="Liter"/>
                <a:ea typeface="MiSans"/>
              </a:rPr>
              <a:t>4</a:t>
            </a:r>
          </a:p>
        </p:txBody>
      </p:sp>
      <p:sp>
        <p:nvSpPr>
          <p:cNvPr id="28" name="dsl:c4title"/>
          <p:cNvSpPr txBox="1"/>
          <p:nvPr/>
        </p:nvSpPr>
        <p:spPr>
          <a:xfrm>
            <a:off x="9191625" y="2362200"/>
            <a:ext cx="2047875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500" noProof="1">
                <a:solidFill>
                  <a:srgbClr val="232A3D"/>
                </a:solidFill>
                <a:latin typeface="MiSans"/>
                <a:ea typeface="MiSans"/>
              </a:rPr>
              <a:t>分支自我对话</a:t>
            </a:r>
          </a:p>
        </p:txBody>
      </p:sp>
      <p:sp>
        <p:nvSpPr>
          <p:cNvPr id="29" name="dsl:c4desc"/>
          <p:cNvSpPr txBox="1"/>
          <p:nvPr/>
        </p:nvSpPr>
        <p:spPr>
          <a:xfrm>
            <a:off x="9191625" y="2705100"/>
            <a:ext cx="2047875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与任一分支下的模拟自我交谈，持续校准它的说话方式与判断。</a:t>
            </a:r>
          </a:p>
        </p:txBody>
      </p:sp>
      <p:sp>
        <p:nvSpPr>
          <p:cNvPr id="30" name="dsl:c4chip"/>
          <p:cNvSpPr/>
          <p:nvPr/>
        </p:nvSpPr>
        <p:spPr>
          <a:xfrm>
            <a:off x="9191625" y="4038600"/>
            <a:ext cx="533400" cy="247650"/>
          </a:xfrm>
          <a:prstGeom prst="rect">
            <a:avLst/>
          </a:prstGeom>
          <a:solidFill>
            <a:srgbClr val="F0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c4chipText"/>
          <p:cNvSpPr txBox="1"/>
          <p:nvPr/>
        </p:nvSpPr>
        <p:spPr>
          <a:xfrm>
            <a:off x="9191625" y="4086225"/>
            <a:ext cx="5334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900" noProof="1">
                <a:solidFill>
                  <a:srgbClr val="B08A3E"/>
                </a:solidFill>
                <a:latin typeface="MiSans"/>
                <a:ea typeface="MiSans"/>
              </a:rPr>
              <a:t>对话</a:t>
            </a:r>
          </a:p>
        </p:txBody>
      </p:sp>
      <p:cxnSp>
        <p:nvCxnSpPr>
          <p:cNvPr id="32" name="dsl:proofDivider"/>
          <p:cNvCxnSpPr/>
          <p:nvPr/>
        </p:nvCxnSpPr>
        <p:spPr>
          <a:xfrm>
            <a:off x="762000" y="4876800"/>
            <a:ext cx="10668000" cy="0"/>
          </a:xfrm>
          <a:prstGeom prst="straightConnector1">
            <a:avLst/>
          </a:prstGeom>
          <a:ln w="12700">
            <a:solidFill>
              <a:srgbClr val="D8D5C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dsl:p1icon|i=fas:bolt" descr="tmpoud3v3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4350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4" name="dsl:p1text"/>
          <p:cNvSpPr txBox="1"/>
          <p:nvPr/>
        </p:nvSpPr>
        <p:spPr>
          <a:xfrm>
            <a:off x="1085850" y="5153025"/>
            <a:ext cx="3048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232A3D"/>
                </a:solidFill>
                <a:latin typeface="MiSans"/>
                <a:ea typeface="MiSans"/>
              </a:rPr>
              <a:t>无需注册，打开即用</a:t>
            </a:r>
          </a:p>
        </p:txBody>
      </p:sp>
      <p:pic>
        <p:nvPicPr>
          <p:cNvPr id="35" name="dsl:p2icon|i=fas:shield-halved" descr="tmpoud3v3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514350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6" name="dsl:p2text"/>
          <p:cNvSpPr txBox="1"/>
          <p:nvPr/>
        </p:nvSpPr>
        <p:spPr>
          <a:xfrm>
            <a:off x="4743450" y="5153025"/>
            <a:ext cx="3238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232A3D"/>
                </a:solidFill>
                <a:latin typeface="MiSans"/>
                <a:ea typeface="MiSans"/>
              </a:rPr>
              <a:t>AI 不可用时，本地规则完整兜底</a:t>
            </a:r>
          </a:p>
        </p:txBody>
      </p:sp>
      <p:pic>
        <p:nvPicPr>
          <p:cNvPr id="37" name="dsl:p3icon|i=fas:share-nodes" descr="tmpoud3v3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514350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8" name="dsl:p3text"/>
          <p:cNvSpPr txBox="1"/>
          <p:nvPr/>
        </p:nvSpPr>
        <p:spPr>
          <a:xfrm>
            <a:off x="8401050" y="5153025"/>
            <a:ext cx="3238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232A3D"/>
                </a:solidFill>
                <a:latin typeface="MiSans"/>
                <a:ea typeface="MiSans"/>
              </a:rPr>
              <a:t>结果卡片可分享，Self Skill 可导出</a:t>
            </a:r>
          </a:p>
        </p:txBody>
      </p:sp>
      <p:sp>
        <p:nvSpPr>
          <p:cNvPr id="39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40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INNOVATION 01 · 核心资产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Self Skill：用户真正拥有的自我数据结构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1bar"/>
          <p:cNvSpPr/>
          <p:nvPr/>
        </p:nvSpPr>
        <p:spPr>
          <a:xfrm>
            <a:off x="762000" y="163830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b1title"/>
          <p:cNvSpPr txBox="1"/>
          <p:nvPr/>
        </p:nvSpPr>
        <p:spPr>
          <a:xfrm>
            <a:off x="933450" y="161925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可编辑、可删除、可导出</a:t>
            </a:r>
          </a:p>
        </p:txBody>
      </p:sp>
      <p:sp>
        <p:nvSpPr>
          <p:cNvPr id="7" name="dsl:b1desc"/>
          <p:cNvSpPr txBox="1"/>
          <p:nvPr/>
        </p:nvSpPr>
        <p:spPr>
          <a:xfrm>
            <a:off x="933450" y="192405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画像不是黑盒结论，而是一份归用户所有的 JSON 档案，随时清空、随时带走。</a:t>
            </a:r>
          </a:p>
        </p:txBody>
      </p:sp>
      <p:sp>
        <p:nvSpPr>
          <p:cNvPr id="8" name="dsl:b2bar"/>
          <p:cNvSpPr/>
          <p:nvPr/>
        </p:nvSpPr>
        <p:spPr>
          <a:xfrm>
            <a:off x="762000" y="276225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2title"/>
          <p:cNvSpPr txBox="1"/>
          <p:nvPr/>
        </p:nvSpPr>
        <p:spPr>
          <a:xfrm>
            <a:off x="933450" y="274320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结构化判断</a:t>
            </a:r>
          </a:p>
        </p:txBody>
      </p:sp>
      <p:sp>
        <p:nvSpPr>
          <p:cNvPr id="10" name="dsl:b2desc"/>
          <p:cNvSpPr txBox="1"/>
          <p:nvPr/>
        </p:nvSpPr>
        <p:spPr>
          <a:xfrm>
            <a:off x="933450" y="304800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每条画像按「结论 → 方法 → 权重 → 参考度 → 证据 → 限制」完整展开。</a:t>
            </a:r>
          </a:p>
        </p:txBody>
      </p:sp>
      <p:sp>
        <p:nvSpPr>
          <p:cNvPr id="11" name="dsl:b3bar"/>
          <p:cNvSpPr/>
          <p:nvPr/>
        </p:nvSpPr>
        <p:spPr>
          <a:xfrm>
            <a:off x="762000" y="388620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b3title"/>
          <p:cNvSpPr txBox="1"/>
          <p:nvPr/>
        </p:nvSpPr>
        <p:spPr>
          <a:xfrm>
            <a:off x="933450" y="386715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阶段化性格</a:t>
            </a:r>
          </a:p>
        </p:txBody>
      </p:sp>
      <p:sp>
        <p:nvSpPr>
          <p:cNvPr id="13" name="dsl:b3desc"/>
          <p:cNvSpPr txBox="1"/>
          <p:nvPr/>
        </p:nvSpPr>
        <p:spPr>
          <a:xfrm>
            <a:off x="933450" y="417195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MBTI 只描述特定人生阶段的偏好，拒绝用一个标签定义人的一生。</a:t>
            </a:r>
          </a:p>
        </p:txBody>
      </p:sp>
      <p:sp>
        <p:nvSpPr>
          <p:cNvPr id="14" name="dsl:b4bar"/>
          <p:cNvSpPr/>
          <p:nvPr/>
        </p:nvSpPr>
        <p:spPr>
          <a:xfrm>
            <a:off x="762000" y="501015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b4title"/>
          <p:cNvSpPr txBox="1"/>
          <p:nvPr/>
        </p:nvSpPr>
        <p:spPr>
          <a:xfrm>
            <a:off x="933450" y="499110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持续校准</a:t>
            </a:r>
          </a:p>
        </p:txBody>
      </p:sp>
      <p:sp>
        <p:nvSpPr>
          <p:cNvPr id="16" name="dsl:b4desc"/>
          <p:cNvSpPr txBox="1"/>
          <p:nvPr/>
        </p:nvSpPr>
        <p:spPr>
          <a:xfrm>
            <a:off x="933450" y="529590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时间线、语气与分支记录随使用不断修正，这份档案越用越像你。</a:t>
            </a:r>
          </a:p>
        </p:txBody>
      </p:sp>
      <p:pic>
        <p:nvPicPr>
          <p:cNvPr id="17" name="dsl:shotReport" descr="/Users/yoyow/Downloads/lifefork/pitch/images/report-crop.jpg"/>
          <p:cNvPicPr>
            <a:picLocks noChangeAspect="1"/>
          </p:cNvPicPr>
          <p:nvPr/>
        </p:nvPicPr>
        <p:blipFill>
          <a:blip r:embed="rId2"/>
          <a:srcRect t="15" b="15"/>
          <a:stretch>
            <a:fillRect/>
          </a:stretch>
        </p:blipFill>
        <p:spPr>
          <a:xfrm>
            <a:off x="6477000" y="1581150"/>
            <a:ext cx="4953000" cy="4457700"/>
          </a:xfrm>
          <a:prstGeom prst="rect">
            <a:avLst/>
          </a:prstGeom>
          <a:ln w="12700">
            <a:solidFill>
              <a:srgbClr val="D8D5CC"/>
            </a:solidFill>
            <a:prstDash val="solid"/>
          </a:ln>
          <a:effectLst/>
        </p:spPr>
      </p:pic>
      <p:sp>
        <p:nvSpPr>
          <p:cNvPr id="18" name="dsl:shotReportCap"/>
          <p:cNvSpPr txBox="1"/>
          <p:nvPr/>
        </p:nvSpPr>
        <p:spPr>
          <a:xfrm>
            <a:off x="6477000" y="6134100"/>
            <a:ext cx="49530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产品实拍 · 个人分析报告（真实生成结果）</a:t>
            </a:r>
          </a:p>
        </p:txBody>
      </p:sp>
      <p:sp>
        <p:nvSpPr>
          <p:cNvPr id="19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20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INNOVATION 02 · 交互发明</a:t>
            </a:r>
          </a:p>
        </p:txBody>
      </p:sp>
      <p:sp>
        <p:nvSpPr>
          <p:cNvPr id="3" name="dsl:title|s=$titleDark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EDEAE2"/>
                </a:solidFill>
                <a:latin typeface="siyuanSongti"/>
                <a:ea typeface="siyuanSongti"/>
              </a:rPr>
              <a:t>人生地图：从一生到一小时，自由缩放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ip1"/>
          <p:cNvSpPr/>
          <p:nvPr/>
        </p:nvSpPr>
        <p:spPr>
          <a:xfrm>
            <a:off x="762000" y="1638300"/>
            <a:ext cx="1104900" cy="400050"/>
          </a:xfrm>
          <a:prstGeom prst="rect">
            <a:avLst/>
          </a:prstGeom>
          <a:solidFill>
            <a:srgbClr val="161B29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hip1t"/>
          <p:cNvSpPr txBox="1"/>
          <p:nvPr/>
        </p:nvSpPr>
        <p:spPr>
          <a:xfrm>
            <a:off x="76200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全人生</a:t>
            </a:r>
          </a:p>
        </p:txBody>
      </p:sp>
      <p:cxnSp>
        <p:nvCxnSpPr>
          <p:cNvPr id="7" name="dsl:ca1"/>
          <p:cNvCxnSpPr/>
          <p:nvPr/>
        </p:nvCxnSpPr>
        <p:spPr>
          <a:xfrm>
            <a:off x="1895475" y="1838325"/>
            <a:ext cx="190500" cy="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chip2"/>
          <p:cNvSpPr/>
          <p:nvPr/>
        </p:nvSpPr>
        <p:spPr>
          <a:xfrm>
            <a:off x="2114550" y="1638300"/>
            <a:ext cx="1104900" cy="400050"/>
          </a:xfrm>
          <a:prstGeom prst="rect">
            <a:avLst/>
          </a:prstGeom>
          <a:solidFill>
            <a:srgbClr val="161B29"/>
          </a:solidFill>
          <a:ln w="12700">
            <a:solidFill>
              <a:srgbClr val="3A435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hip2t"/>
          <p:cNvSpPr txBox="1"/>
          <p:nvPr/>
        </p:nvSpPr>
        <p:spPr>
          <a:xfrm>
            <a:off x="211455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十年</a:t>
            </a:r>
          </a:p>
        </p:txBody>
      </p:sp>
      <p:cxnSp>
        <p:nvCxnSpPr>
          <p:cNvPr id="10" name="dsl:ca2"/>
          <p:cNvCxnSpPr/>
          <p:nvPr/>
        </p:nvCxnSpPr>
        <p:spPr>
          <a:xfrm>
            <a:off x="3248025" y="1838325"/>
            <a:ext cx="190500" cy="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sl:chip3"/>
          <p:cNvSpPr/>
          <p:nvPr/>
        </p:nvSpPr>
        <p:spPr>
          <a:xfrm>
            <a:off x="3467100" y="1638300"/>
            <a:ext cx="1104900" cy="400050"/>
          </a:xfrm>
          <a:prstGeom prst="rect">
            <a:avLst/>
          </a:prstGeom>
          <a:solidFill>
            <a:srgbClr val="161B29"/>
          </a:solidFill>
          <a:ln w="12700">
            <a:solidFill>
              <a:srgbClr val="3A435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hip3t"/>
          <p:cNvSpPr txBox="1"/>
          <p:nvPr/>
        </p:nvSpPr>
        <p:spPr>
          <a:xfrm>
            <a:off x="346710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阶段</a:t>
            </a:r>
          </a:p>
        </p:txBody>
      </p:sp>
      <p:cxnSp>
        <p:nvCxnSpPr>
          <p:cNvPr id="13" name="dsl:ca3"/>
          <p:cNvCxnSpPr/>
          <p:nvPr/>
        </p:nvCxnSpPr>
        <p:spPr>
          <a:xfrm>
            <a:off x="4600575" y="1838325"/>
            <a:ext cx="190500" cy="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chip4"/>
          <p:cNvSpPr/>
          <p:nvPr/>
        </p:nvSpPr>
        <p:spPr>
          <a:xfrm>
            <a:off x="4819650" y="1638300"/>
            <a:ext cx="1104900" cy="400050"/>
          </a:xfrm>
          <a:prstGeom prst="rect">
            <a:avLst/>
          </a:prstGeom>
          <a:solidFill>
            <a:srgbClr val="161B29"/>
          </a:solidFill>
          <a:ln w="12700">
            <a:solidFill>
              <a:srgbClr val="3A435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chip4t"/>
          <p:cNvSpPr txBox="1"/>
          <p:nvPr/>
        </p:nvSpPr>
        <p:spPr>
          <a:xfrm>
            <a:off x="481965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一年</a:t>
            </a:r>
          </a:p>
        </p:txBody>
      </p:sp>
      <p:cxnSp>
        <p:nvCxnSpPr>
          <p:cNvPr id="16" name="dsl:ca4"/>
          <p:cNvCxnSpPr/>
          <p:nvPr/>
        </p:nvCxnSpPr>
        <p:spPr>
          <a:xfrm>
            <a:off x="5953125" y="1838325"/>
            <a:ext cx="190500" cy="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chip5"/>
          <p:cNvSpPr/>
          <p:nvPr/>
        </p:nvSpPr>
        <p:spPr>
          <a:xfrm>
            <a:off x="6172200" y="1638300"/>
            <a:ext cx="1104900" cy="400050"/>
          </a:xfrm>
          <a:prstGeom prst="rect">
            <a:avLst/>
          </a:prstGeom>
          <a:solidFill>
            <a:srgbClr val="161B29"/>
          </a:solidFill>
          <a:ln w="12700">
            <a:solidFill>
              <a:srgbClr val="3A435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chip5t"/>
          <p:cNvSpPr txBox="1"/>
          <p:nvPr/>
        </p:nvSpPr>
        <p:spPr>
          <a:xfrm>
            <a:off x="617220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一月</a:t>
            </a:r>
          </a:p>
        </p:txBody>
      </p:sp>
      <p:cxnSp>
        <p:nvCxnSpPr>
          <p:cNvPr id="19" name="dsl:ca5"/>
          <p:cNvCxnSpPr/>
          <p:nvPr/>
        </p:nvCxnSpPr>
        <p:spPr>
          <a:xfrm>
            <a:off x="7305675" y="1838325"/>
            <a:ext cx="190500" cy="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chip6"/>
          <p:cNvSpPr/>
          <p:nvPr/>
        </p:nvSpPr>
        <p:spPr>
          <a:xfrm>
            <a:off x="7524750" y="1638300"/>
            <a:ext cx="1104900" cy="400050"/>
          </a:xfrm>
          <a:prstGeom prst="rect">
            <a:avLst/>
          </a:prstGeom>
          <a:solidFill>
            <a:srgbClr val="161B29"/>
          </a:solidFill>
          <a:ln w="12700">
            <a:solidFill>
              <a:srgbClr val="3A435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chip6t"/>
          <p:cNvSpPr txBox="1"/>
          <p:nvPr/>
        </p:nvSpPr>
        <p:spPr>
          <a:xfrm>
            <a:off x="752475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一周</a:t>
            </a:r>
          </a:p>
        </p:txBody>
      </p:sp>
      <p:cxnSp>
        <p:nvCxnSpPr>
          <p:cNvPr id="22" name="dsl:ca6"/>
          <p:cNvCxnSpPr/>
          <p:nvPr/>
        </p:nvCxnSpPr>
        <p:spPr>
          <a:xfrm>
            <a:off x="8658225" y="1838325"/>
            <a:ext cx="190500" cy="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sl:chip7"/>
          <p:cNvSpPr/>
          <p:nvPr/>
        </p:nvSpPr>
        <p:spPr>
          <a:xfrm>
            <a:off x="8877300" y="1638300"/>
            <a:ext cx="1104900" cy="400050"/>
          </a:xfrm>
          <a:prstGeom prst="rect">
            <a:avLst/>
          </a:prstGeom>
          <a:solidFill>
            <a:srgbClr val="161B29"/>
          </a:solidFill>
          <a:ln w="12700">
            <a:solidFill>
              <a:srgbClr val="3A435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chip7t"/>
          <p:cNvSpPr txBox="1"/>
          <p:nvPr/>
        </p:nvSpPr>
        <p:spPr>
          <a:xfrm>
            <a:off x="887730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一天</a:t>
            </a:r>
          </a:p>
        </p:txBody>
      </p:sp>
      <p:cxnSp>
        <p:nvCxnSpPr>
          <p:cNvPr id="25" name="dsl:ca7"/>
          <p:cNvCxnSpPr/>
          <p:nvPr/>
        </p:nvCxnSpPr>
        <p:spPr>
          <a:xfrm>
            <a:off x="10010775" y="1838325"/>
            <a:ext cx="190500" cy="0"/>
          </a:xfrm>
          <a:prstGeom prst="straightConnector1">
            <a:avLst/>
          </a:prstGeom>
          <a:ln w="19050">
            <a:solidFill>
              <a:srgbClr val="3A435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chip8"/>
          <p:cNvSpPr/>
          <p:nvPr/>
        </p:nvSpPr>
        <p:spPr>
          <a:xfrm>
            <a:off x="10229850" y="1638300"/>
            <a:ext cx="1104900" cy="400050"/>
          </a:xfrm>
          <a:prstGeom prst="rect">
            <a:avLst/>
          </a:prstGeom>
          <a:solidFill>
            <a:srgbClr val="161B29"/>
          </a:solidFill>
          <a:ln w="19050">
            <a:solidFill>
              <a:srgbClr val="7B5EA7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chip8t"/>
          <p:cNvSpPr txBox="1"/>
          <p:nvPr/>
        </p:nvSpPr>
        <p:spPr>
          <a:xfrm>
            <a:off x="10229850" y="1743075"/>
            <a:ext cx="11049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125" noProof="1">
                <a:solidFill>
                  <a:srgbClr val="EDEAE2"/>
                </a:solidFill>
                <a:latin typeface="MiSans"/>
                <a:ea typeface="MiSans"/>
              </a:rPr>
              <a:t>一小时</a:t>
            </a:r>
          </a:p>
        </p:txBody>
      </p:sp>
      <p:sp>
        <p:nvSpPr>
          <p:cNvPr id="28" name="dsl:pr1title"/>
          <p:cNvSpPr txBox="1"/>
          <p:nvPr/>
        </p:nvSpPr>
        <p:spPr>
          <a:xfrm>
            <a:off x="762000" y="2286000"/>
            <a:ext cx="3352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EDEAE2"/>
                </a:solidFill>
                <a:latin typeface="MiSans"/>
                <a:ea typeface="MiSans"/>
              </a:rPr>
              <a:t>一处数据，一个实体</a:t>
            </a:r>
          </a:p>
        </p:txBody>
      </p:sp>
      <p:sp>
        <p:nvSpPr>
          <p:cNvPr id="29" name="dsl:pr1desc"/>
          <p:cNvSpPr txBox="1"/>
          <p:nvPr/>
        </p:nvSpPr>
        <p:spPr>
          <a:xfrm>
            <a:off x="762000" y="2590800"/>
            <a:ext cx="3352800" cy="4381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9BA3B5"/>
                </a:solidFill>
                <a:latin typeface="MiSans"/>
                <a:ea typeface="MiSans"/>
              </a:rPr>
              <a:t>同一个人生节点只有一种视觉表示，随尺度形变，绝不重复出现。</a:t>
            </a:r>
          </a:p>
        </p:txBody>
      </p:sp>
      <p:sp>
        <p:nvSpPr>
          <p:cNvPr id="30" name="dsl:pr2title"/>
          <p:cNvSpPr txBox="1"/>
          <p:nvPr/>
        </p:nvSpPr>
        <p:spPr>
          <a:xfrm>
            <a:off x="4419600" y="2286000"/>
            <a:ext cx="3352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EDEAE2"/>
                </a:solidFill>
                <a:latin typeface="MiSans"/>
                <a:ea typeface="MiSans"/>
              </a:rPr>
              <a:t>渐进披露复杂度</a:t>
            </a:r>
          </a:p>
        </p:txBody>
      </p:sp>
      <p:sp>
        <p:nvSpPr>
          <p:cNvPr id="31" name="dsl:pr2desc"/>
          <p:cNvSpPr txBox="1"/>
          <p:nvPr/>
        </p:nvSpPr>
        <p:spPr>
          <a:xfrm>
            <a:off x="4419600" y="2590800"/>
            <a:ext cx="3352800" cy="4381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9BA3B5"/>
                </a:solidFill>
                <a:latin typeface="MiSans"/>
                <a:ea typeface="MiSans"/>
              </a:rPr>
              <a:t>宏观尺度只看主线，放大逐级揭示子节点。默认可见节点不超过 24 个。</a:t>
            </a:r>
          </a:p>
        </p:txBody>
      </p:sp>
      <p:sp>
        <p:nvSpPr>
          <p:cNvPr id="32" name="dsl:pr3title"/>
          <p:cNvSpPr txBox="1"/>
          <p:nvPr/>
        </p:nvSpPr>
        <p:spPr>
          <a:xfrm>
            <a:off x="8077200" y="2286000"/>
            <a:ext cx="33528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EDEAE2"/>
                </a:solidFill>
                <a:latin typeface="MiSans"/>
                <a:ea typeface="MiSans"/>
              </a:rPr>
              <a:t>焦点即叙事</a:t>
            </a:r>
          </a:p>
        </p:txBody>
      </p:sp>
      <p:sp>
        <p:nvSpPr>
          <p:cNvPr id="33" name="dsl:pr3desc"/>
          <p:cNvSpPr txBox="1"/>
          <p:nvPr/>
        </p:nvSpPr>
        <p:spPr>
          <a:xfrm>
            <a:off x="8077200" y="2590800"/>
            <a:ext cx="3352800" cy="4381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9BA3B5"/>
                </a:solidFill>
                <a:latin typeface="MiSans"/>
                <a:ea typeface="MiSans"/>
              </a:rPr>
              <a:t>点击改变焦点，连线高亮当前关系，其余降噪，镜头平滑跟随。</a:t>
            </a:r>
          </a:p>
        </p:txBody>
      </p:sp>
      <p:sp>
        <p:nvSpPr>
          <p:cNvPr id="34" name="dsl:mapCap"/>
          <p:cNvSpPr txBox="1"/>
          <p:nvPr/>
        </p:nvSpPr>
        <p:spPr>
          <a:xfrm>
            <a:off x="762000" y="3314700"/>
            <a:ext cx="6667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9BA3B5"/>
                </a:solidFill>
                <a:latin typeface="MiSans"/>
                <a:ea typeface="MiSans"/>
              </a:rPr>
              <a:t>产品实拍 · 人生地图（全人生尺度 · 自动聚焦）</a:t>
            </a:r>
          </a:p>
        </p:txBody>
      </p:sp>
      <p:pic>
        <p:nvPicPr>
          <p:cNvPr id="35" name="dsl:mapShot" descr="/Users/yoyow/Downloads/lifefork/pitch/images/map-strip.jpg"/>
          <p:cNvPicPr>
            <a:picLocks noChangeAspect="1"/>
          </p:cNvPicPr>
          <p:nvPr/>
        </p:nvPicPr>
        <p:blipFill>
          <a:blip r:embed="rId2"/>
          <a:srcRect t="98" b="98"/>
          <a:stretch>
            <a:fillRect/>
          </a:stretch>
        </p:blipFill>
        <p:spPr>
          <a:xfrm>
            <a:off x="762000" y="3562350"/>
            <a:ext cx="10668000" cy="1971675"/>
          </a:xfrm>
          <a:prstGeom prst="rect">
            <a:avLst/>
          </a:prstGeom>
          <a:ln w="12700">
            <a:solidFill>
              <a:srgbClr val="3A4358"/>
            </a:solidFill>
            <a:prstDash val="solid"/>
          </a:ln>
          <a:effectLst/>
        </p:spPr>
      </p:pic>
      <p:sp>
        <p:nvSpPr>
          <p:cNvPr id="36" name="dsl:mapNote1"/>
          <p:cNvSpPr txBox="1"/>
          <p:nvPr/>
        </p:nvSpPr>
        <p:spPr>
          <a:xfrm>
            <a:off x="762000" y="5772150"/>
            <a:ext cx="5143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08A3E"/>
                </a:solidFill>
                <a:latin typeface="MiSans"/>
                <a:ea typeface="MiSans"/>
              </a:rPr>
              <a:t>金色主线</a:t>
            </a:r>
            <a:r>
              <a:rPr sz="1050" noProof="1">
                <a:solidFill>
                  <a:srgbClr val="9BA3B5"/>
                </a:solidFill>
                <a:latin typeface="MiSans"/>
                <a:ea typeface="MiSans"/>
              </a:rPr>
              <a:t>为已走过的路径，节点同时标注时间尺度与状态；滚轮缩放只改变镜头与语义尺度，节点拓扑不重排。</a:t>
            </a:r>
          </a:p>
        </p:txBody>
      </p:sp>
      <p:sp>
        <p:nvSpPr>
          <p:cNvPr id="37" name="dsl:mapNote2"/>
          <p:cNvSpPr txBox="1"/>
          <p:nvPr/>
        </p:nvSpPr>
        <p:spPr>
          <a:xfrm>
            <a:off x="6667500" y="5772150"/>
            <a:ext cx="4762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BA3B5"/>
                </a:solidFill>
                <a:latin typeface="MiSans"/>
                <a:ea typeface="MiSans"/>
              </a:rPr>
              <a:t>点击节点查看收益、代价与生成依据；双击在单节点、父子同屏、子节点同屏之间循环切换。</a:t>
            </a:r>
          </a:p>
        </p:txBody>
      </p:sp>
      <p:sp>
        <p:nvSpPr>
          <p:cNvPr id="38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BA3B5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39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BA3B5"/>
                </a:solidFill>
                <a:latin typeface="Liter"/>
                <a:ea typeface="MiSan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INNOVATION 03 · 信任工程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证据优先：每条结论都能回答「为什么」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dsl:chainLine"/>
          <p:cNvCxnSpPr/>
          <p:nvPr/>
        </p:nvCxnSpPr>
        <p:spPr>
          <a:xfrm>
            <a:off x="914400" y="1809750"/>
            <a:ext cx="0" cy="3619500"/>
          </a:xfrm>
          <a:prstGeom prst="straightConnector1">
            <a:avLst/>
          </a:prstGeom>
          <a:ln w="19050">
            <a:solidFill>
              <a:srgbClr val="D8D5C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st1n"/>
          <p:cNvSpPr/>
          <p:nvPr/>
        </p:nvSpPr>
        <p:spPr>
          <a:xfrm>
            <a:off x="847725" y="1743075"/>
            <a:ext cx="133350" cy="133350"/>
          </a:xfrm>
          <a:prstGeom prst="ellipse">
            <a:avLst/>
          </a:prstGeom>
          <a:solidFill>
            <a:srgbClr val="F7F4EE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t1t"/>
          <p:cNvSpPr txBox="1"/>
          <p:nvPr/>
        </p:nvSpPr>
        <p:spPr>
          <a:xfrm>
            <a:off x="1162050" y="1714500"/>
            <a:ext cx="3238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结论</a:t>
            </a:r>
            <a:r>
              <a:rPr sz="1275" noProof="1">
                <a:solidFill>
                  <a:srgbClr val="232A3D"/>
                </a:solidFill>
                <a:latin typeface="MiSans"/>
                <a:ea typeface="MiSans"/>
              </a:rPr>
              <a:t> · 它说了什么</a:t>
            </a:r>
          </a:p>
        </p:txBody>
      </p:sp>
      <p:sp>
        <p:nvSpPr>
          <p:cNvPr id="8" name="dsl:st2n"/>
          <p:cNvSpPr/>
          <p:nvPr/>
        </p:nvSpPr>
        <p:spPr>
          <a:xfrm>
            <a:off x="847725" y="2352675"/>
            <a:ext cx="133350" cy="133350"/>
          </a:xfrm>
          <a:prstGeom prst="ellipse">
            <a:avLst/>
          </a:prstGeom>
          <a:solidFill>
            <a:srgbClr val="F7F4EE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st2t"/>
          <p:cNvSpPr txBox="1"/>
          <p:nvPr/>
        </p:nvSpPr>
        <p:spPr>
          <a:xfrm>
            <a:off x="1162050" y="2324100"/>
            <a:ext cx="3238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方法</a:t>
            </a:r>
            <a:r>
              <a:rPr sz="1275" noProof="1">
                <a:solidFill>
                  <a:srgbClr val="232A3D"/>
                </a:solidFill>
                <a:latin typeface="MiSans"/>
                <a:ea typeface="MiSans"/>
              </a:rPr>
              <a:t> · 用了哪类分析</a:t>
            </a:r>
          </a:p>
        </p:txBody>
      </p:sp>
      <p:sp>
        <p:nvSpPr>
          <p:cNvPr id="10" name="dsl:st3n"/>
          <p:cNvSpPr/>
          <p:nvPr/>
        </p:nvSpPr>
        <p:spPr>
          <a:xfrm>
            <a:off x="847725" y="2962275"/>
            <a:ext cx="133350" cy="133350"/>
          </a:xfrm>
          <a:prstGeom prst="ellipse">
            <a:avLst/>
          </a:prstGeom>
          <a:solidFill>
            <a:srgbClr val="F7F4EE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t3t"/>
          <p:cNvSpPr txBox="1"/>
          <p:nvPr/>
        </p:nvSpPr>
        <p:spPr>
          <a:xfrm>
            <a:off x="1162050" y="2933700"/>
            <a:ext cx="3238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权重</a:t>
            </a:r>
            <a:r>
              <a:rPr sz="1275" noProof="1">
                <a:solidFill>
                  <a:srgbClr val="232A3D"/>
                </a:solidFill>
                <a:latin typeface="MiSans"/>
                <a:ea typeface="MiSans"/>
              </a:rPr>
              <a:t> · 用户自己调的比例</a:t>
            </a:r>
          </a:p>
        </p:txBody>
      </p:sp>
      <p:sp>
        <p:nvSpPr>
          <p:cNvPr id="12" name="dsl:st4n"/>
          <p:cNvSpPr/>
          <p:nvPr/>
        </p:nvSpPr>
        <p:spPr>
          <a:xfrm>
            <a:off x="847725" y="3571875"/>
            <a:ext cx="133350" cy="133350"/>
          </a:xfrm>
          <a:prstGeom prst="ellipse">
            <a:avLst/>
          </a:prstGeom>
          <a:solidFill>
            <a:srgbClr val="F7F4EE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st4t"/>
          <p:cNvSpPr txBox="1"/>
          <p:nvPr/>
        </p:nvSpPr>
        <p:spPr>
          <a:xfrm>
            <a:off x="1162050" y="3543300"/>
            <a:ext cx="3238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参考度</a:t>
            </a:r>
            <a:r>
              <a:rPr sz="1275" noProof="1">
                <a:solidFill>
                  <a:srgbClr val="232A3D"/>
                </a:solidFill>
                <a:latin typeface="MiSans"/>
                <a:ea typeface="MiSans"/>
              </a:rPr>
              <a:t> · 这次有多可信</a:t>
            </a:r>
          </a:p>
        </p:txBody>
      </p:sp>
      <p:sp>
        <p:nvSpPr>
          <p:cNvPr id="14" name="dsl:st5n"/>
          <p:cNvSpPr/>
          <p:nvPr/>
        </p:nvSpPr>
        <p:spPr>
          <a:xfrm>
            <a:off x="847725" y="4181475"/>
            <a:ext cx="133350" cy="133350"/>
          </a:xfrm>
          <a:prstGeom prst="ellipse">
            <a:avLst/>
          </a:prstGeom>
          <a:solidFill>
            <a:srgbClr val="F7F4EE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t5t"/>
          <p:cNvSpPr txBox="1"/>
          <p:nvPr/>
        </p:nvSpPr>
        <p:spPr>
          <a:xfrm>
            <a:off x="1162050" y="4152900"/>
            <a:ext cx="3238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依据</a:t>
            </a:r>
            <a:r>
              <a:rPr sz="1275" noProof="1">
                <a:solidFill>
                  <a:srgbClr val="232A3D"/>
                </a:solidFill>
                <a:latin typeface="MiSans"/>
                <a:ea typeface="MiSans"/>
              </a:rPr>
              <a:t> · 对应哪段材料</a:t>
            </a:r>
          </a:p>
        </p:txBody>
      </p:sp>
      <p:sp>
        <p:nvSpPr>
          <p:cNvPr id="16" name="dsl:st6n"/>
          <p:cNvSpPr/>
          <p:nvPr/>
        </p:nvSpPr>
        <p:spPr>
          <a:xfrm>
            <a:off x="847725" y="4791075"/>
            <a:ext cx="133350" cy="133350"/>
          </a:xfrm>
          <a:prstGeom prst="ellipse">
            <a:avLst/>
          </a:prstGeom>
          <a:solidFill>
            <a:srgbClr val="F7F4EE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t6t"/>
          <p:cNvSpPr txBox="1"/>
          <p:nvPr/>
        </p:nvSpPr>
        <p:spPr>
          <a:xfrm>
            <a:off x="1162050" y="4762500"/>
            <a:ext cx="3238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限制</a:t>
            </a:r>
            <a:r>
              <a:rPr sz="1275" noProof="1">
                <a:solidFill>
                  <a:srgbClr val="232A3D"/>
                </a:solidFill>
                <a:latin typeface="MiSans"/>
                <a:ea typeface="MiSans"/>
              </a:rPr>
              <a:t> · 它不知道什么</a:t>
            </a:r>
          </a:p>
        </p:txBody>
      </p:sp>
      <p:sp>
        <p:nvSpPr>
          <p:cNvPr id="18" name="dsl:st7n"/>
          <p:cNvSpPr/>
          <p:nvPr/>
        </p:nvSpPr>
        <p:spPr>
          <a:xfrm>
            <a:off x="847725" y="5400675"/>
            <a:ext cx="133350" cy="133350"/>
          </a:xfrm>
          <a:prstGeom prst="ellipse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st7t"/>
          <p:cNvSpPr txBox="1"/>
          <p:nvPr/>
        </p:nvSpPr>
        <p:spPr>
          <a:xfrm>
            <a:off x="1162050" y="5372100"/>
            <a:ext cx="3238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可修正</a:t>
            </a:r>
            <a:r>
              <a:rPr sz="1275" noProof="1">
                <a:solidFill>
                  <a:srgbClr val="232A3D"/>
                </a:solidFill>
                <a:latin typeface="MiSans"/>
                <a:ea typeface="MiSans"/>
              </a:rPr>
              <a:t> · 用户能否反驳</a:t>
            </a:r>
          </a:p>
        </p:txBody>
      </p:sp>
      <p:sp>
        <p:nvSpPr>
          <p:cNvPr id="20" name="dsl:rightPara|s=$body"/>
          <p:cNvSpPr txBox="1"/>
          <p:nvPr/>
        </p:nvSpPr>
        <p:spPr>
          <a:xfrm>
            <a:off x="4953000" y="1638300"/>
            <a:ext cx="6477000" cy="723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32A3D"/>
                </a:solidFill>
                <a:latin typeface="MiSans"/>
                <a:ea typeface="MiSans"/>
              </a:rPr>
              <a:t>大多数 AI 产品要求你信任黑盒。LifeFork 反其道而行：每条输出都公开自己的配方，并允许你当场反驳。</a:t>
            </a:r>
          </a:p>
        </p:txBody>
      </p:sp>
      <p:pic>
        <p:nvPicPr>
          <p:cNvPr id="21" name="dsl:shotForks" descr="/Users/yoyow/Downloads/lifefork/pitch/images/forks-detail.jpg"/>
          <p:cNvPicPr>
            <a:picLocks noChangeAspect="1"/>
          </p:cNvPicPr>
          <p:nvPr/>
        </p:nvPicPr>
        <p:blipFill>
          <a:blip r:embed="rId2"/>
          <a:srcRect t="55" b="55"/>
          <a:stretch>
            <a:fillRect/>
          </a:stretch>
        </p:blipFill>
        <p:spPr>
          <a:xfrm>
            <a:off x="4953000" y="2552700"/>
            <a:ext cx="6477000" cy="2562225"/>
          </a:xfrm>
          <a:prstGeom prst="rect">
            <a:avLst/>
          </a:prstGeom>
          <a:ln w="12700">
            <a:solidFill>
              <a:srgbClr val="D8D5CC"/>
            </a:solidFill>
            <a:prstDash val="solid"/>
          </a:ln>
          <a:effectLst/>
        </p:spPr>
      </p:pic>
      <p:sp>
        <p:nvSpPr>
          <p:cNvPr id="22" name="dsl:shotForksCap"/>
          <p:cNvSpPr txBox="1"/>
          <p:nvPr/>
        </p:nvSpPr>
        <p:spPr>
          <a:xfrm>
            <a:off x="4953000" y="5191125"/>
            <a:ext cx="64770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产品实拍 · 方案详情：参考度、判断依据、预期收益、成本与状态变化同屏呈现</a:t>
            </a:r>
          </a:p>
        </p:txBody>
      </p:sp>
      <p:sp>
        <p:nvSpPr>
          <p:cNvPr id="23" name="dsl:quoteBar"/>
          <p:cNvSpPr/>
          <p:nvPr/>
        </p:nvSpPr>
        <p:spPr>
          <a:xfrm>
            <a:off x="4953000" y="5591175"/>
            <a:ext cx="28575" cy="53340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quote"/>
          <p:cNvSpPr txBox="1"/>
          <p:nvPr/>
        </p:nvSpPr>
        <p:spPr>
          <a:xfrm>
            <a:off x="5162550" y="5514975"/>
            <a:ext cx="626745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noProof="1">
                <a:solidFill>
                  <a:srgbClr val="232A3D"/>
                </a:solidFill>
                <a:latin typeface="siyuanSongti"/>
                <a:ea typeface="siyuanSongti"/>
              </a:rPr>
              <a:t>我们不预测未来。我们呈现选择的结构，把最终解释权还给用户。</a:t>
            </a:r>
          </a:p>
        </p:txBody>
      </p:sp>
      <p:sp>
        <p:nvSpPr>
          <p:cNvPr id="25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26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INNOVATION 04 · 体验峰值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与另一个自己对话：未选择的路，也能认真走完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1bar"/>
          <p:cNvSpPr/>
          <p:nvPr/>
        </p:nvSpPr>
        <p:spPr>
          <a:xfrm>
            <a:off x="762000" y="163830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b1title"/>
          <p:cNvSpPr txBox="1"/>
          <p:nvPr/>
        </p:nvSpPr>
        <p:spPr>
          <a:xfrm>
            <a:off x="933450" y="161925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多时空自我实例</a:t>
            </a:r>
          </a:p>
        </p:txBody>
      </p:sp>
      <p:sp>
        <p:nvSpPr>
          <p:cNvPr id="7" name="dsl:b1desc"/>
          <p:cNvSpPr txBox="1"/>
          <p:nvPr/>
        </p:nvSpPr>
        <p:spPr>
          <a:xfrm>
            <a:off x="933450" y="192405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与过去、现在、未来，以及未选择路径中的自己，一一交谈。</a:t>
            </a:r>
          </a:p>
        </p:txBody>
      </p:sp>
      <p:sp>
        <p:nvSpPr>
          <p:cNvPr id="8" name="dsl:b2bar"/>
          <p:cNvSpPr/>
          <p:nvPr/>
        </p:nvSpPr>
        <p:spPr>
          <a:xfrm>
            <a:off x="762000" y="276225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2title"/>
          <p:cNvSpPr txBox="1"/>
          <p:nvPr/>
        </p:nvSpPr>
        <p:spPr>
          <a:xfrm>
            <a:off x="933450" y="274320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语气持续校准</a:t>
            </a:r>
          </a:p>
        </p:txBody>
      </p:sp>
      <p:sp>
        <p:nvSpPr>
          <p:cNvPr id="10" name="dsl:b2desc"/>
          <p:cNvSpPr txBox="1"/>
          <p:nvPr/>
        </p:nvSpPr>
        <p:spPr>
          <a:xfrm>
            <a:off x="933450" y="304800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「这句像我」「少一点 AI 味」——分支自我会学习你的表达方式，越聊越像你。</a:t>
            </a:r>
          </a:p>
        </p:txBody>
      </p:sp>
      <p:sp>
        <p:nvSpPr>
          <p:cNvPr id="11" name="dsl:b3bar"/>
          <p:cNvSpPr/>
          <p:nvPr/>
        </p:nvSpPr>
        <p:spPr>
          <a:xfrm>
            <a:off x="762000" y="388620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b3title"/>
          <p:cNvSpPr txBox="1"/>
          <p:nvPr/>
        </p:nvSpPr>
        <p:spPr>
          <a:xfrm>
            <a:off x="933450" y="386715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收益与代价并陈</a:t>
            </a:r>
          </a:p>
        </p:txBody>
      </p:sp>
      <p:sp>
        <p:nvSpPr>
          <p:cNvPr id="13" name="dsl:b3desc"/>
          <p:cNvSpPr txBox="1"/>
          <p:nvPr/>
        </p:nvSpPr>
        <p:spPr>
          <a:xfrm>
            <a:off x="933450" y="417195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每条回复都标注生成来源与耗时，明确写着「不代表真实未来」。</a:t>
            </a:r>
          </a:p>
        </p:txBody>
      </p:sp>
      <p:sp>
        <p:nvSpPr>
          <p:cNvPr id="14" name="dsl:b4bar"/>
          <p:cNvSpPr/>
          <p:nvPr/>
        </p:nvSpPr>
        <p:spPr>
          <a:xfrm>
            <a:off x="762000" y="5010150"/>
            <a:ext cx="28575" cy="2095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b4title"/>
          <p:cNvSpPr txBox="1"/>
          <p:nvPr/>
        </p:nvSpPr>
        <p:spPr>
          <a:xfrm>
            <a:off x="933450" y="4991100"/>
            <a:ext cx="516255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危机守护</a:t>
            </a:r>
          </a:p>
        </p:txBody>
      </p:sp>
      <p:sp>
        <p:nvSpPr>
          <p:cNvPr id="16" name="dsl:b4desc"/>
          <p:cNvSpPr txBox="1"/>
          <p:nvPr/>
        </p:nvSpPr>
        <p:spPr>
          <a:xfrm>
            <a:off x="933450" y="5295900"/>
            <a:ext cx="516255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识别危机输入即停止常规模拟，引导用户寻求现实中的支持。</a:t>
            </a:r>
          </a:p>
        </p:txBody>
      </p:sp>
      <p:pic>
        <p:nvPicPr>
          <p:cNvPr id="17" name="dsl:shotDialogue" descr="/Users/yoyow/Downloads/lifefork/pitch/images/dialogue-crop.jpg"/>
          <p:cNvPicPr>
            <a:picLocks noChangeAspect="1"/>
          </p:cNvPicPr>
          <p:nvPr/>
        </p:nvPicPr>
        <p:blipFill>
          <a:blip r:embed="rId2"/>
          <a:srcRect t="6" b="6"/>
          <a:stretch>
            <a:fillRect/>
          </a:stretch>
        </p:blipFill>
        <p:spPr>
          <a:xfrm>
            <a:off x="6667500" y="1581150"/>
            <a:ext cx="4762500" cy="4267200"/>
          </a:xfrm>
          <a:prstGeom prst="rect">
            <a:avLst/>
          </a:prstGeom>
          <a:ln w="12700">
            <a:solidFill>
              <a:srgbClr val="D8D5CC"/>
            </a:solidFill>
            <a:prstDash val="solid"/>
          </a:ln>
          <a:effectLst/>
        </p:spPr>
      </p:pic>
      <p:sp>
        <p:nvSpPr>
          <p:cNvPr id="18" name="dsl:shotDialogueCap"/>
          <p:cNvSpPr txBox="1"/>
          <p:nvPr/>
        </p:nvSpPr>
        <p:spPr>
          <a:xfrm>
            <a:off x="6667500" y="5943600"/>
            <a:ext cx="476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产品实拍 · 分支方案模拟对话（真实模型回复，附语气校准）</a:t>
            </a:r>
          </a:p>
        </p:txBody>
      </p:sp>
      <p:sp>
        <p:nvSpPr>
          <p:cNvPr id="19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20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TRUST · 隐私架构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隐私不是功能，是架构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1card"/>
          <p:cNvSpPr/>
          <p:nvPr/>
        </p:nvSpPr>
        <p:spPr>
          <a:xfrm>
            <a:off x="762000" y="1619250"/>
            <a:ext cx="3352800" cy="1952625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t1icon|i=fas:user-secret" descr="tmp9goi19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28800"/>
            <a:ext cx="247650" cy="2476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t1title"/>
          <p:cNvSpPr txBox="1"/>
          <p:nvPr/>
        </p:nvSpPr>
        <p:spPr>
          <a:xfrm>
            <a:off x="1352550" y="1847850"/>
            <a:ext cx="25527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匿名即用</a:t>
            </a:r>
          </a:p>
        </p:txBody>
      </p:sp>
      <p:sp>
        <p:nvSpPr>
          <p:cNvPr id="8" name="dsl:t1desc"/>
          <p:cNvSpPr txBox="1"/>
          <p:nvPr/>
        </p:nvSpPr>
        <p:spPr>
          <a:xfrm>
            <a:off x="990600" y="2286000"/>
            <a:ext cx="28956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无需注册。个人分析只保存在用户自己的浏览器，访客之间互不读取。</a:t>
            </a:r>
          </a:p>
        </p:txBody>
      </p:sp>
      <p:sp>
        <p:nvSpPr>
          <p:cNvPr id="9" name="dsl:t2card"/>
          <p:cNvSpPr/>
          <p:nvPr/>
        </p:nvSpPr>
        <p:spPr>
          <a:xfrm>
            <a:off x="4419600" y="1619250"/>
            <a:ext cx="3352800" cy="1952625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2icon|i=fas:lock" descr="tmp9goi19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28800"/>
            <a:ext cx="247650" cy="2476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2title"/>
          <p:cNvSpPr txBox="1"/>
          <p:nvPr/>
        </p:nvSpPr>
        <p:spPr>
          <a:xfrm>
            <a:off x="5010150" y="1847850"/>
            <a:ext cx="25527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原文不出本地</a:t>
            </a:r>
          </a:p>
        </p:txBody>
      </p:sp>
      <p:sp>
        <p:nvSpPr>
          <p:cNvPr id="12" name="dsl:t2desc"/>
          <p:cNvSpPr txBox="1"/>
          <p:nvPr/>
        </p:nvSpPr>
        <p:spPr>
          <a:xfrm>
            <a:off x="4648200" y="2286000"/>
            <a:ext cx="28956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微信原文仅在浏览器内存中处理，服务器只收到用户确认的脱敏短摘要。</a:t>
            </a:r>
          </a:p>
        </p:txBody>
      </p:sp>
      <p:sp>
        <p:nvSpPr>
          <p:cNvPr id="13" name="dsl:t3card"/>
          <p:cNvSpPr/>
          <p:nvPr/>
        </p:nvSpPr>
        <p:spPr>
          <a:xfrm>
            <a:off x="8077200" y="1619250"/>
            <a:ext cx="3352800" cy="1952625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dsl:t3icon|i=fas:key" descr="tmp9goi19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1828800"/>
            <a:ext cx="247650" cy="2476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t3title"/>
          <p:cNvSpPr txBox="1"/>
          <p:nvPr/>
        </p:nvSpPr>
        <p:spPr>
          <a:xfrm>
            <a:off x="8667750" y="1847850"/>
            <a:ext cx="25527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密钥零暴露</a:t>
            </a:r>
          </a:p>
        </p:txBody>
      </p:sp>
      <p:sp>
        <p:nvSpPr>
          <p:cNvPr id="16" name="dsl:t3desc"/>
          <p:cNvSpPr txBox="1"/>
          <p:nvPr/>
        </p:nvSpPr>
        <p:spPr>
          <a:xfrm>
            <a:off x="8305800" y="2286000"/>
            <a:ext cx="28956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AI 密钥仅存于服务器，前端永远拿不到；生成、对话、导入分别限流。</a:t>
            </a:r>
          </a:p>
        </p:txBody>
      </p:sp>
      <p:sp>
        <p:nvSpPr>
          <p:cNvPr id="17" name="dsl:t4card"/>
          <p:cNvSpPr/>
          <p:nvPr/>
        </p:nvSpPr>
        <p:spPr>
          <a:xfrm>
            <a:off x="762000" y="3857625"/>
            <a:ext cx="3352800" cy="1952625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dsl:t4icon|i=fas:house-laptop" descr="tmp9goi19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067175"/>
            <a:ext cx="247650" cy="2476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t4title"/>
          <p:cNvSpPr txBox="1"/>
          <p:nvPr/>
        </p:nvSpPr>
        <p:spPr>
          <a:xfrm>
            <a:off x="1352550" y="4086225"/>
            <a:ext cx="25527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本地完整兜底</a:t>
            </a:r>
          </a:p>
        </p:txBody>
      </p:sp>
      <p:sp>
        <p:nvSpPr>
          <p:cNvPr id="20" name="dsl:t4desc"/>
          <p:cNvSpPr txBox="1"/>
          <p:nvPr/>
        </p:nvSpPr>
        <p:spPr>
          <a:xfrm>
            <a:off x="990600" y="4524375"/>
            <a:ext cx="28956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无账号、无密钥、无网络，本地规则也能跑完核心体验。</a:t>
            </a:r>
          </a:p>
        </p:txBody>
      </p:sp>
      <p:sp>
        <p:nvSpPr>
          <p:cNvPr id="21" name="dsl:t5card"/>
          <p:cNvSpPr/>
          <p:nvPr/>
        </p:nvSpPr>
        <p:spPr>
          <a:xfrm>
            <a:off x="4419600" y="3857625"/>
            <a:ext cx="3352800" cy="1952625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dsl:t5icon|i=fas:life-ring" descr="tmp9goi19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067175"/>
            <a:ext cx="247650" cy="2476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t5title"/>
          <p:cNvSpPr txBox="1"/>
          <p:nvPr/>
        </p:nvSpPr>
        <p:spPr>
          <a:xfrm>
            <a:off x="5010150" y="4086225"/>
            <a:ext cx="25527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危机拦截</a:t>
            </a:r>
          </a:p>
        </p:txBody>
      </p:sp>
      <p:sp>
        <p:nvSpPr>
          <p:cNvPr id="24" name="dsl:t5desc"/>
          <p:cNvSpPr txBox="1"/>
          <p:nvPr/>
        </p:nvSpPr>
        <p:spPr>
          <a:xfrm>
            <a:off x="4648200" y="4524375"/>
            <a:ext cx="28956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危机输入触发保护机制：停止常规模拟，引导用户寻求现实支持。</a:t>
            </a:r>
          </a:p>
        </p:txBody>
      </p:sp>
      <p:sp>
        <p:nvSpPr>
          <p:cNvPr id="25" name="dsl:t6card"/>
          <p:cNvSpPr/>
          <p:nvPr/>
        </p:nvSpPr>
        <p:spPr>
          <a:xfrm>
            <a:off x="8077200" y="3857625"/>
            <a:ext cx="3352800" cy="1952625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dsl:t6icon|i=fas:scale-balanced" descr="tmp9goi19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4067175"/>
            <a:ext cx="247650" cy="2476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t6title"/>
          <p:cNvSpPr txBox="1"/>
          <p:nvPr/>
        </p:nvSpPr>
        <p:spPr>
          <a:xfrm>
            <a:off x="8667750" y="4086225"/>
            <a:ext cx="25527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425" noProof="1">
                <a:solidFill>
                  <a:srgbClr val="232A3D"/>
                </a:solidFill>
                <a:latin typeface="MiSans"/>
                <a:ea typeface="MiSans"/>
              </a:rPr>
              <a:t>伦理章程</a:t>
            </a:r>
          </a:p>
        </p:txBody>
      </p:sp>
      <p:sp>
        <p:nvSpPr>
          <p:cNvPr id="28" name="dsl:t6desc"/>
          <p:cNvSpPr txBox="1"/>
          <p:nvPr/>
        </p:nvSpPr>
        <p:spPr>
          <a:xfrm>
            <a:off x="8305800" y="4524375"/>
            <a:ext cx="28956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WCAG 2.2 AA 无障碍基线；不提供医疗、心理诊断、法律或财务结论。</a:t>
            </a:r>
          </a:p>
        </p:txBody>
      </p:sp>
      <p:sp>
        <p:nvSpPr>
          <p:cNvPr id="29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30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MARKET · 市场机会</a:t>
            </a:r>
          </a:p>
        </p:txBody>
      </p:sp>
      <p:sp>
        <p:nvSpPr>
          <p:cNvPr id="3" name="dsl:title|s=$titleDark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EDEAE2"/>
                </a:solidFill>
                <a:latin typeface="siyuanSongti"/>
                <a:ea typeface="siyuanSongti"/>
              </a:rPr>
              <a:t>500 亿市场，供给缺口肉眼可见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marketChart"/>
          <p:cNvGraphicFramePr>
            <a:graphicFrameLocks noGrp="1"/>
          </p:cNvGraphicFramePr>
          <p:nvPr/>
        </p:nvGraphicFramePr>
        <p:xfrm>
          <a:off x="762000" y="1619250"/>
          <a:ext cx="5334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sl:m1num"/>
          <p:cNvSpPr txBox="1"/>
          <p:nvPr/>
        </p:nvSpPr>
        <p:spPr>
          <a:xfrm>
            <a:off x="6667500" y="1695450"/>
            <a:ext cx="4762500" cy="533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450" noProof="1">
                <a:solidFill>
                  <a:srgbClr val="B08A3E"/>
                </a:solidFill>
                <a:latin typeface="Liter"/>
                <a:ea typeface="MiSans"/>
              </a:rPr>
              <a:t>9500 万</a:t>
            </a:r>
          </a:p>
        </p:txBody>
      </p:sp>
      <p:sp>
        <p:nvSpPr>
          <p:cNvPr id="7" name="dsl:m1label"/>
          <p:cNvSpPr txBox="1"/>
          <p:nvPr/>
        </p:nvSpPr>
        <p:spPr>
          <a:xfrm>
            <a:off x="6667500" y="2286000"/>
            <a:ext cx="4762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9BA3B5"/>
                </a:solidFill>
                <a:latin typeface="MiSans"/>
                <a:ea typeface="MiSans"/>
              </a:rPr>
              <a:t>国内泛心理问题人群规模</a:t>
            </a:r>
          </a:p>
        </p:txBody>
      </p:sp>
      <p:sp>
        <p:nvSpPr>
          <p:cNvPr id="8" name="dsl:m2num"/>
          <p:cNvSpPr txBox="1"/>
          <p:nvPr/>
        </p:nvSpPr>
        <p:spPr>
          <a:xfrm>
            <a:off x="6667500" y="2933700"/>
            <a:ext cx="4762500" cy="533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450" noProof="1">
                <a:solidFill>
                  <a:srgbClr val="B08A3E"/>
                </a:solidFill>
                <a:latin typeface="Liter"/>
                <a:ea typeface="MiSans"/>
              </a:rPr>
              <a:t>+18%</a:t>
            </a:r>
          </a:p>
        </p:txBody>
      </p:sp>
      <p:sp>
        <p:nvSpPr>
          <p:cNvPr id="9" name="dsl:m2label"/>
          <p:cNvSpPr txBox="1"/>
          <p:nvPr/>
        </p:nvSpPr>
        <p:spPr>
          <a:xfrm>
            <a:off x="6667500" y="3524250"/>
            <a:ext cx="4762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9BA3B5"/>
                </a:solidFill>
                <a:latin typeface="MiSans"/>
                <a:ea typeface="MiSans"/>
              </a:rPr>
              <a:t>市场年复合增长率（2023–2025E）</a:t>
            </a:r>
          </a:p>
        </p:txBody>
      </p:sp>
      <p:sp>
        <p:nvSpPr>
          <p:cNvPr id="10" name="dsl:m3num"/>
          <p:cNvSpPr txBox="1"/>
          <p:nvPr/>
        </p:nvSpPr>
        <p:spPr>
          <a:xfrm>
            <a:off x="6667500" y="4171950"/>
            <a:ext cx="4762500" cy="533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3450" noProof="1">
                <a:solidFill>
                  <a:srgbClr val="B08A3E"/>
                </a:solidFill>
                <a:latin typeface="Liter"/>
                <a:ea typeface="MiSans"/>
              </a:rPr>
              <a:t>22%</a:t>
            </a:r>
          </a:p>
        </p:txBody>
      </p:sp>
      <p:sp>
        <p:nvSpPr>
          <p:cNvPr id="11" name="dsl:m3label"/>
          <p:cNvSpPr txBox="1"/>
          <p:nvPr/>
        </p:nvSpPr>
        <p:spPr>
          <a:xfrm>
            <a:off x="6667500" y="4762500"/>
            <a:ext cx="4762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9BA3B5"/>
                </a:solidFill>
                <a:latin typeface="MiSans"/>
                <a:ea typeface="MiSans"/>
              </a:rPr>
              <a:t>互联网心理健康服务增速，跑赢大盘</a:t>
            </a:r>
          </a:p>
        </p:txBody>
      </p:sp>
      <p:sp>
        <p:nvSpPr>
          <p:cNvPr id="12" name="dsl:minsightBar"/>
          <p:cNvSpPr/>
          <p:nvPr/>
        </p:nvSpPr>
        <p:spPr>
          <a:xfrm>
            <a:off x="6667500" y="5295900"/>
            <a:ext cx="28575" cy="41910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minsight"/>
          <p:cNvSpPr txBox="1"/>
          <p:nvPr/>
        </p:nvSpPr>
        <p:spPr>
          <a:xfrm>
            <a:off x="6838950" y="5257800"/>
            <a:ext cx="4591050" cy="495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EDEAE2"/>
                </a:solidFill>
                <a:latin typeface="MiSans"/>
                <a:ea typeface="MiSans"/>
              </a:rPr>
              <a:t>LifeFork 切入心理咨询与泛娱乐之间的空白带：结构化自我探索。</a:t>
            </a:r>
          </a:p>
        </p:txBody>
      </p:sp>
      <p:sp>
        <p:nvSpPr>
          <p:cNvPr id="14" name="dsl:source"/>
          <p:cNvSpPr txBox="1"/>
          <p:nvPr/>
        </p:nvSpPr>
        <p:spPr>
          <a:xfrm>
            <a:off x="762000" y="6172200"/>
            <a:ext cx="95250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BA3B5"/>
                </a:solidFill>
                <a:latin typeface="MiSans"/>
                <a:ea typeface="MiSans"/>
              </a:rPr>
              <a:t>数据来源：观研天下（2025）、艾瑞咨询；市场规模为中国心理健康服务市场整体口径。</a:t>
            </a:r>
          </a:p>
        </p:txBody>
      </p:sp>
      <p:sp>
        <p:nvSpPr>
          <p:cNvPr id="15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BA3B5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16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BA3B5"/>
                </a:solidFill>
                <a:latin typeface="Liter"/>
                <a:ea typeface="MiSan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BUSINESS MODEL · 商业化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免费建立信任，订阅与 B 端兑现价值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f1band"/>
          <p:cNvSpPr/>
          <p:nvPr/>
        </p:nvSpPr>
        <p:spPr>
          <a:xfrm>
            <a:off x="762000" y="1619250"/>
            <a:ext cx="3352800" cy="57150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f1card"/>
          <p:cNvSpPr/>
          <p:nvPr/>
        </p:nvSpPr>
        <p:spPr>
          <a:xfrm>
            <a:off x="762000" y="1676400"/>
            <a:ext cx="3352800" cy="36195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f1title"/>
          <p:cNvSpPr txBox="1"/>
          <p:nvPr/>
        </p:nvSpPr>
        <p:spPr>
          <a:xfrm>
            <a:off x="990600" y="1905000"/>
            <a:ext cx="28956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575" noProof="1">
                <a:solidFill>
                  <a:srgbClr val="232A3D"/>
                </a:solidFill>
                <a:latin typeface="MiSans"/>
                <a:ea typeface="MiSans"/>
              </a:rPr>
              <a:t>免费层 · 获客引擎</a:t>
            </a:r>
          </a:p>
        </p:txBody>
      </p:sp>
      <p:sp>
        <p:nvSpPr>
          <p:cNvPr id="8" name="dsl:f1sub"/>
          <p:cNvSpPr txBox="1"/>
          <p:nvPr/>
        </p:nvSpPr>
        <p:spPr>
          <a:xfrm>
            <a:off x="990600" y="2228850"/>
            <a:ext cx="28956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B08A3E"/>
                </a:solidFill>
                <a:latin typeface="MiSans"/>
                <a:ea typeface="MiSans"/>
              </a:rPr>
              <a:t>公测阶段全部免费</a:t>
            </a:r>
          </a:p>
        </p:txBody>
      </p:sp>
      <p:sp>
        <p:nvSpPr>
          <p:cNvPr id="9" name="dsl:f1list"/>
          <p:cNvSpPr txBox="1"/>
          <p:nvPr/>
        </p:nvSpPr>
        <p:spPr>
          <a:xfrm>
            <a:off x="990600" y="2590800"/>
            <a:ext cx="28956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核心体验全量开放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五问 / Self Skill / 地图 / 对话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用完整体验换口碑传播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目标：留存与使用习惯</a:t>
            </a:r>
          </a:p>
        </p:txBody>
      </p:sp>
      <p:sp>
        <p:nvSpPr>
          <p:cNvPr id="10" name="dsl:f1tag"/>
          <p:cNvSpPr txBox="1"/>
          <p:nvPr/>
        </p:nvSpPr>
        <p:spPr>
          <a:xfrm>
            <a:off x="990600" y="4762500"/>
            <a:ext cx="28956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125" noProof="1">
                <a:solidFill>
                  <a:srgbClr val="232A3D"/>
                </a:solidFill>
                <a:latin typeface="MiSans"/>
                <a:ea typeface="MiSans"/>
              </a:rPr>
              <a:t>当前：全量开放中</a:t>
            </a:r>
          </a:p>
        </p:txBody>
      </p:sp>
      <p:sp>
        <p:nvSpPr>
          <p:cNvPr id="11" name="dsl:f2band"/>
          <p:cNvSpPr/>
          <p:nvPr/>
        </p:nvSpPr>
        <p:spPr>
          <a:xfrm>
            <a:off x="4419600" y="1619250"/>
            <a:ext cx="3352800" cy="5715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f2card"/>
          <p:cNvSpPr/>
          <p:nvPr/>
        </p:nvSpPr>
        <p:spPr>
          <a:xfrm>
            <a:off x="4419600" y="1676400"/>
            <a:ext cx="3352800" cy="36195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f2title"/>
          <p:cNvSpPr txBox="1"/>
          <p:nvPr/>
        </p:nvSpPr>
        <p:spPr>
          <a:xfrm>
            <a:off x="4648200" y="1905000"/>
            <a:ext cx="28956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575" noProof="1">
                <a:solidFill>
                  <a:srgbClr val="232A3D"/>
                </a:solidFill>
                <a:latin typeface="MiSans"/>
                <a:ea typeface="MiSans"/>
              </a:rPr>
              <a:t>订阅层 · 价值变现</a:t>
            </a:r>
          </a:p>
        </p:txBody>
      </p:sp>
      <p:sp>
        <p:nvSpPr>
          <p:cNvPr id="14" name="dsl:f2sub"/>
          <p:cNvSpPr txBox="1"/>
          <p:nvPr/>
        </p:nvSpPr>
        <p:spPr>
          <a:xfrm>
            <a:off x="4648200" y="2228850"/>
            <a:ext cx="28956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7B5EA7"/>
                </a:solidFill>
                <a:latin typeface="MiSans"/>
                <a:ea typeface="MiSans"/>
              </a:rPr>
              <a:t>面向长期自我探索者</a:t>
            </a:r>
          </a:p>
        </p:txBody>
      </p:sp>
      <p:sp>
        <p:nvSpPr>
          <p:cNvPr id="15" name="dsl:f2list"/>
          <p:cNvSpPr txBox="1"/>
          <p:nvPr/>
        </p:nvSpPr>
        <p:spPr>
          <a:xfrm>
            <a:off x="4648200" y="2590800"/>
            <a:ext cx="28956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跨设备同步与长期档案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更深分析、更多分支推演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年度人生报告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对标冥想 / 日记类产品订阅</a:t>
            </a:r>
          </a:p>
        </p:txBody>
      </p:sp>
      <p:sp>
        <p:nvSpPr>
          <p:cNvPr id="16" name="dsl:f2tag"/>
          <p:cNvSpPr txBox="1"/>
          <p:nvPr/>
        </p:nvSpPr>
        <p:spPr>
          <a:xfrm>
            <a:off x="4648200" y="4762500"/>
            <a:ext cx="28956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125" noProof="1">
                <a:solidFill>
                  <a:srgbClr val="232A3D"/>
                </a:solidFill>
                <a:latin typeface="MiSans"/>
                <a:ea typeface="MiSans"/>
              </a:rPr>
              <a:t>V1.0 启动</a:t>
            </a:r>
          </a:p>
        </p:txBody>
      </p:sp>
      <p:sp>
        <p:nvSpPr>
          <p:cNvPr id="17" name="dsl:f3band"/>
          <p:cNvSpPr/>
          <p:nvPr/>
        </p:nvSpPr>
        <p:spPr>
          <a:xfrm>
            <a:off x="8077200" y="1619250"/>
            <a:ext cx="3352800" cy="5715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f3card"/>
          <p:cNvSpPr/>
          <p:nvPr/>
        </p:nvSpPr>
        <p:spPr>
          <a:xfrm>
            <a:off x="8077200" y="1676400"/>
            <a:ext cx="3352800" cy="36195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f3title"/>
          <p:cNvSpPr txBox="1"/>
          <p:nvPr/>
        </p:nvSpPr>
        <p:spPr>
          <a:xfrm>
            <a:off x="8305800" y="1905000"/>
            <a:ext cx="28956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575" noProof="1">
                <a:solidFill>
                  <a:srgbClr val="232A3D"/>
                </a:solidFill>
                <a:latin typeface="MiSans"/>
                <a:ea typeface="MiSans"/>
              </a:rPr>
              <a:t>B 端 · 规模放大</a:t>
            </a:r>
          </a:p>
        </p:txBody>
      </p:sp>
      <p:sp>
        <p:nvSpPr>
          <p:cNvPr id="20" name="dsl:f3sub"/>
          <p:cNvSpPr txBox="1"/>
          <p:nvPr/>
        </p:nvSpPr>
        <p:spPr>
          <a:xfrm>
            <a:off x="8305800" y="2228850"/>
            <a:ext cx="28956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3D5A99"/>
                </a:solidFill>
                <a:latin typeface="MiSans"/>
                <a:ea typeface="MiSans"/>
              </a:rPr>
              <a:t>面向机构与组织</a:t>
            </a:r>
          </a:p>
        </p:txBody>
      </p:sp>
      <p:sp>
        <p:nvSpPr>
          <p:cNvPr id="21" name="dsl:f3list"/>
          <p:cNvSpPr txBox="1"/>
          <p:nvPr/>
        </p:nvSpPr>
        <p:spPr>
          <a:xfrm>
            <a:off x="8305800" y="2590800"/>
            <a:ext cx="28956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高校心理中心 / 企业 EAP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咨询机构的自助探索工具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匿名化 API 与团体洞察</a:t>
            </a: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6B7186"/>
                </a:solidFill>
                <a:latin typeface="MiSans"/>
                <a:ea typeface="MiSans"/>
              </a:rPr>
              <a:t>· 不触碰个人原始数据</a:t>
            </a:r>
          </a:p>
        </p:txBody>
      </p:sp>
      <p:sp>
        <p:nvSpPr>
          <p:cNvPr id="22" name="dsl:f3tag"/>
          <p:cNvSpPr txBox="1"/>
          <p:nvPr/>
        </p:nvSpPr>
        <p:spPr>
          <a:xfrm>
            <a:off x="8305800" y="4762500"/>
            <a:ext cx="28956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125" noProof="1">
                <a:solidFill>
                  <a:srgbClr val="232A3D"/>
                </a:solidFill>
                <a:latin typeface="MiSans"/>
                <a:ea typeface="MiSans"/>
              </a:rPr>
              <a:t>V2.0 落地</a:t>
            </a:r>
          </a:p>
        </p:txBody>
      </p:sp>
      <p:sp>
        <p:nvSpPr>
          <p:cNvPr id="23" name="dsl:modelNote"/>
          <p:cNvSpPr txBox="1"/>
          <p:nvPr/>
        </p:nvSpPr>
        <p:spPr>
          <a:xfrm>
            <a:off x="762000" y="5715000"/>
            <a:ext cx="106680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公测阶段优先验证留存与口碑；订阅与 B 端在 V1.0 之后启动，不牺牲免费层的完整体验。</a:t>
            </a:r>
          </a:p>
        </p:txBody>
      </p:sp>
      <p:sp>
        <p:nvSpPr>
          <p:cNvPr id="24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25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COMPETITION · 竞争格局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不在任何现有品类里——我们定义新品类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compTable"/>
          <p:cNvGraphicFramePr>
            <a:graphicFrameLocks noGrp="1"/>
          </p:cNvGraphicFramePr>
          <p:nvPr/>
        </p:nvGraphicFramePr>
        <p:xfrm>
          <a:off x="762000" y="1619250"/>
          <a:ext cx="10668000" cy="3619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987040"/>
                <a:gridCol w="1813560"/>
                <a:gridCol w="1813560"/>
                <a:gridCol w="1813560"/>
                <a:gridCol w="2240280"/>
              </a:tblGrid>
              <a:tr h="57912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 b="1">
                          <a:solidFill>
                            <a:srgbClr val="F7F4EE"/>
                          </a:solidFill>
                          <a:latin typeface="MiSans"/>
                          <a:ea typeface="MiSans"/>
                        </a:rPr>
                        <a:t>能力维度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 b="1">
                          <a:solidFill>
                            <a:srgbClr val="F7F4EE"/>
                          </a:solidFill>
                          <a:latin typeface="MiSans"/>
                          <a:ea typeface="MiSans"/>
                        </a:rPr>
                        <a:t>日记笔记类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 b="1">
                          <a:solidFill>
                            <a:srgbClr val="F7F4EE"/>
                          </a:solidFill>
                          <a:latin typeface="MiSans"/>
                          <a:ea typeface="MiSans"/>
                        </a:rPr>
                        <a:t>测评占星类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 b="1">
                          <a:solidFill>
                            <a:srgbClr val="F7F4EE"/>
                          </a:solidFill>
                          <a:latin typeface="MiSans"/>
                          <a:ea typeface="MiSans"/>
                        </a:rPr>
                        <a:t>通用 AI 聊天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125" noProof="1">
                          <a:solidFill>
                            <a:srgbClr val="F7F4EE"/>
                          </a:solidFill>
                          <a:latin typeface="MiSans"/>
                          <a:ea typeface="MiSans"/>
                        </a:rPr>
                        <a:t>LifeFork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232A3D"/>
                    </a:solidFill>
                  </a:tcPr>
                </a:tc>
              </a:tr>
              <a:tr h="60807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结构化人生决策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0E8D8"/>
                    </a:solidFill>
                  </a:tcPr>
                </a:tc>
              </a:tr>
              <a:tr h="60807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结论可追溯、可反驳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0E8D8"/>
                    </a:solidFill>
                  </a:tcPr>
                </a:tc>
              </a:tr>
              <a:tr h="60807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多时间尺度路径模拟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6B7186"/>
                          </a:solidFill>
                          <a:latin typeface="MiSans"/>
                          <a:ea typeface="MiSans"/>
                        </a:rPr>
                        <a:t>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0E8D8"/>
                    </a:solidFill>
                  </a:tcPr>
                </a:tc>
              </a:tr>
              <a:tr h="60807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用户拥有数据所有权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6B7186"/>
                          </a:solidFill>
                          <a:latin typeface="MiSans"/>
                          <a:ea typeface="MiSans"/>
                        </a:rPr>
                        <a:t>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0E8D8"/>
                    </a:solidFill>
                  </a:tcPr>
                </a:tc>
              </a:tr>
              <a:tr h="608076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本地优先隐私架构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6B7186"/>
                          </a:solidFill>
                          <a:latin typeface="MiSans"/>
                          <a:ea typeface="MiSans"/>
                        </a:rPr>
                        <a:t>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9AA0B0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CFA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232A3D"/>
                          </a:solidFill>
                          <a:latin typeface="MiSans"/>
                          <a:ea typeface="MiSans"/>
                        </a:rPr>
                        <a:t>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5CC"/>
                      </a:solidFill>
                      <a:prstDash val="solid"/>
                    </a:lnL>
                    <a:lnR w="12700" cap="flat" cmpd="sng" algn="ctr">
                      <a:solidFill>
                        <a:srgbClr val="D8D5CC"/>
                      </a:solidFill>
                      <a:prstDash val="solid"/>
                    </a:lnR>
                    <a:lnT w="12700" cap="flat" cmpd="sng" algn="ctr">
                      <a:solidFill>
                        <a:srgbClr val="D8D5CC"/>
                      </a:solidFill>
                      <a:prstDash val="solid"/>
                    </a:lnT>
                    <a:lnB w="12700" cap="flat" cmpd="sng" algn="ctr">
                      <a:solidFill>
                        <a:srgbClr val="D8D5CC"/>
                      </a:solidFill>
                      <a:prstDash val="solid"/>
                    </a:lnB>
                    <a:solidFill>
                      <a:srgbClr val="F0E8D8"/>
                    </a:solidFill>
                  </a:tcPr>
                </a:tc>
              </a:tr>
            </a:tbl>
          </a:graphicData>
        </a:graphic>
      </p:graphicFrame>
      <p:sp>
        <p:nvSpPr>
          <p:cNvPr id="6" name="dsl:verdict"/>
          <p:cNvSpPr txBox="1"/>
          <p:nvPr/>
        </p:nvSpPr>
        <p:spPr>
          <a:xfrm>
            <a:off x="762000" y="5638800"/>
            <a:ext cx="106680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500" noProof="1">
                <a:solidFill>
                  <a:srgbClr val="232A3D"/>
                </a:solidFill>
                <a:latin typeface="siyuanSongti"/>
                <a:ea typeface="siyuanSongti"/>
              </a:rPr>
              <a:t>别人解决的是记录、娱乐或聊天。LifeFork 解决的是「看清选择」。</a:t>
            </a:r>
          </a:p>
        </p:txBody>
      </p:sp>
      <p:sp>
        <p:nvSpPr>
          <p:cNvPr id="7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8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762000" y="476250"/>
            <a:ext cx="666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300">
                <a:solidFill>
                  <a:srgbClr val="B08A3E"/>
                </a:solidFill>
                <a:latin typeface="Liter"/>
                <a:ea typeface="MiSans"/>
              </a:rPr>
              <a:t>ROADMAP · 路线图</a:t>
            </a:r>
          </a:p>
        </p:txBody>
      </p:sp>
      <p:sp>
        <p:nvSpPr>
          <p:cNvPr id="3" name="dsl:title|s=$title"/>
          <p:cNvSpPr txBox="1"/>
          <p:nvPr/>
        </p:nvSpPr>
        <p:spPr>
          <a:xfrm>
            <a:off x="762000" y="742950"/>
            <a:ext cx="10668000" cy="4191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2400" noProof="1">
                <a:solidFill>
                  <a:srgbClr val="232A3D"/>
                </a:solidFill>
                <a:latin typeface="siyuanSongti"/>
                <a:ea typeface="siyuanSongti"/>
              </a:rPr>
              <a:t>从公测到平台：三步走</a:t>
            </a:r>
          </a:p>
        </p:txBody>
      </p:sp>
      <p:sp>
        <p:nvSpPr>
          <p:cNvPr id="4" name="dsl:titleBar"/>
          <p:cNvSpPr/>
          <p:nvPr/>
        </p:nvSpPr>
        <p:spPr>
          <a:xfrm>
            <a:off x="762000" y="1295400"/>
            <a:ext cx="419100" cy="28575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v1label"/>
          <p:cNvSpPr txBox="1"/>
          <p:nvPr/>
        </p:nvSpPr>
        <p:spPr>
          <a:xfrm>
            <a:off x="952500" y="2038350"/>
            <a:ext cx="2667000" cy="304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b="1" sz="1875" noProof="1">
                <a:solidFill>
                  <a:srgbClr val="B08A3E"/>
                </a:solidFill>
                <a:latin typeface="Liter"/>
                <a:ea typeface="MiSans"/>
              </a:rPr>
              <a:t>V0.8 · 现在</a:t>
            </a:r>
          </a:p>
        </p:txBody>
      </p:sp>
      <p:sp>
        <p:nvSpPr>
          <p:cNvPr id="6" name="dsl:v2label"/>
          <p:cNvSpPr txBox="1"/>
          <p:nvPr/>
        </p:nvSpPr>
        <p:spPr>
          <a:xfrm>
            <a:off x="4762500" y="2038350"/>
            <a:ext cx="2667000" cy="304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b="1" sz="1875" noProof="1">
                <a:solidFill>
                  <a:srgbClr val="232A3D"/>
                </a:solidFill>
                <a:latin typeface="Liter"/>
                <a:ea typeface="MiSans"/>
              </a:rPr>
              <a:t>V1.0 · 12 个月内</a:t>
            </a:r>
          </a:p>
        </p:txBody>
      </p:sp>
      <p:sp>
        <p:nvSpPr>
          <p:cNvPr id="7" name="dsl:v3label"/>
          <p:cNvSpPr txBox="1"/>
          <p:nvPr/>
        </p:nvSpPr>
        <p:spPr>
          <a:xfrm>
            <a:off x="8572500" y="2038350"/>
            <a:ext cx="2667000" cy="3048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b="1" sz="1875" noProof="1">
                <a:solidFill>
                  <a:srgbClr val="232A3D"/>
                </a:solidFill>
                <a:latin typeface="Liter"/>
                <a:ea typeface="MiSans"/>
              </a:rPr>
              <a:t>V2.0 · 24 个月内</a:t>
            </a:r>
          </a:p>
        </p:txBody>
      </p:sp>
      <p:cxnSp>
        <p:nvCxnSpPr>
          <p:cNvPr id="8" name="dsl:tlLine"/>
          <p:cNvCxnSpPr/>
          <p:nvPr/>
        </p:nvCxnSpPr>
        <p:spPr>
          <a:xfrm>
            <a:off x="1143000" y="2743200"/>
            <a:ext cx="9906000" cy="0"/>
          </a:xfrm>
          <a:prstGeom prst="straightConnector1">
            <a:avLst/>
          </a:prstGeom>
          <a:ln w="25400">
            <a:solidFill>
              <a:srgbClr val="D8D5C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tlNode1"/>
          <p:cNvSpPr/>
          <p:nvPr/>
        </p:nvSpPr>
        <p:spPr>
          <a:xfrm>
            <a:off x="2200275" y="2657475"/>
            <a:ext cx="171450" cy="171450"/>
          </a:xfrm>
          <a:prstGeom prst="ellipse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lNode2"/>
          <p:cNvSpPr/>
          <p:nvPr/>
        </p:nvSpPr>
        <p:spPr>
          <a:xfrm>
            <a:off x="6010275" y="2657475"/>
            <a:ext cx="171450" cy="171450"/>
          </a:xfrm>
          <a:prstGeom prst="ellipse">
            <a:avLst/>
          </a:prstGeom>
          <a:solidFill>
            <a:srgbClr val="F7F4EE"/>
          </a:solidFill>
          <a:ln w="2540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lNode3"/>
          <p:cNvSpPr/>
          <p:nvPr/>
        </p:nvSpPr>
        <p:spPr>
          <a:xfrm>
            <a:off x="9820275" y="2657475"/>
            <a:ext cx="171450" cy="171450"/>
          </a:xfrm>
          <a:prstGeom prst="ellipse">
            <a:avLst/>
          </a:prstGeom>
          <a:solidFill>
            <a:srgbClr val="F7F4EE"/>
          </a:solidFill>
          <a:ln w="2540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v1card"/>
          <p:cNvSpPr/>
          <p:nvPr/>
        </p:nvSpPr>
        <p:spPr>
          <a:xfrm>
            <a:off x="666750" y="3143250"/>
            <a:ext cx="3238500" cy="180975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v1ctitle"/>
          <p:cNvSpPr txBox="1"/>
          <p:nvPr/>
        </p:nvSpPr>
        <p:spPr>
          <a:xfrm>
            <a:off x="895350" y="3352800"/>
            <a:ext cx="2781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公开测试（已上线）</a:t>
            </a:r>
          </a:p>
        </p:txBody>
      </p:sp>
      <p:sp>
        <p:nvSpPr>
          <p:cNvPr id="14" name="dsl:v1list"/>
          <p:cNvSpPr txBox="1"/>
          <p:nvPr/>
        </p:nvSpPr>
        <p:spPr>
          <a:xfrm>
            <a:off x="895350" y="3695700"/>
            <a:ext cx="2781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匿名多人访问，无需注册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完整体验闭环已打通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真实模型验收与降级兜底</a:t>
            </a:r>
          </a:p>
        </p:txBody>
      </p:sp>
      <p:sp>
        <p:nvSpPr>
          <p:cNvPr id="15" name="dsl:v2card"/>
          <p:cNvSpPr/>
          <p:nvPr/>
        </p:nvSpPr>
        <p:spPr>
          <a:xfrm>
            <a:off x="4476750" y="3143250"/>
            <a:ext cx="3238500" cy="180975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v2ctitle"/>
          <p:cNvSpPr txBox="1"/>
          <p:nvPr/>
        </p:nvSpPr>
        <p:spPr>
          <a:xfrm>
            <a:off x="4705350" y="3352800"/>
            <a:ext cx="2781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产品与商业闭环</a:t>
            </a:r>
          </a:p>
        </p:txBody>
      </p:sp>
      <p:sp>
        <p:nvSpPr>
          <p:cNvPr id="17" name="dsl:v2list"/>
          <p:cNvSpPr txBox="1"/>
          <p:nvPr/>
        </p:nvSpPr>
        <p:spPr>
          <a:xfrm>
            <a:off x="4705350" y="3695700"/>
            <a:ext cx="2781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账号与跨设备同步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订阅上线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群体统计分层数据库</a:t>
            </a:r>
          </a:p>
        </p:txBody>
      </p:sp>
      <p:sp>
        <p:nvSpPr>
          <p:cNvPr id="18" name="dsl:v3card"/>
          <p:cNvSpPr/>
          <p:nvPr/>
        </p:nvSpPr>
        <p:spPr>
          <a:xfrm>
            <a:off x="8286750" y="3143250"/>
            <a:ext cx="3238500" cy="180975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v3ctitle"/>
          <p:cNvSpPr txBox="1"/>
          <p:nvPr/>
        </p:nvSpPr>
        <p:spPr>
          <a:xfrm>
            <a:off x="8515350" y="3352800"/>
            <a:ext cx="2781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232A3D"/>
                </a:solidFill>
                <a:latin typeface="MiSans"/>
                <a:ea typeface="MiSans"/>
              </a:rPr>
              <a:t>平台化</a:t>
            </a:r>
          </a:p>
        </p:txBody>
      </p:sp>
      <p:sp>
        <p:nvSpPr>
          <p:cNvPr id="20" name="dsl:v3list"/>
          <p:cNvSpPr txBox="1"/>
          <p:nvPr/>
        </p:nvSpPr>
        <p:spPr>
          <a:xfrm>
            <a:off x="8515350" y="3695700"/>
            <a:ext cx="2781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B 端合作落地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Self Skill 开放标准</a:t>
            </a: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6B7186"/>
                </a:solidFill>
                <a:latin typeface="MiSans"/>
                <a:ea typeface="MiSans"/>
              </a:rPr>
              <a:t>· 多语言版本</a:t>
            </a:r>
          </a:p>
        </p:txBody>
      </p:sp>
      <p:sp>
        <p:nvSpPr>
          <p:cNvPr id="21" name="dsl:fundLabel"/>
          <p:cNvSpPr txBox="1"/>
          <p:nvPr/>
        </p:nvSpPr>
        <p:spPr>
          <a:xfrm>
            <a:off x="762000" y="5391150"/>
            <a:ext cx="3810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225">
                <a:solidFill>
                  <a:srgbClr val="B08A3E"/>
                </a:solidFill>
                <a:latin typeface="MiSans"/>
                <a:ea typeface="MiSans"/>
              </a:rPr>
              <a:t>本轮资金用途（规划）</a:t>
            </a:r>
          </a:p>
        </p:txBody>
      </p:sp>
      <p:sp>
        <p:nvSpPr>
          <p:cNvPr id="22" name="dsl:fchip1"/>
          <p:cNvSpPr/>
          <p:nvPr/>
        </p:nvSpPr>
        <p:spPr>
          <a:xfrm>
            <a:off x="762000" y="5676900"/>
            <a:ext cx="2505075" cy="4191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fchip1t"/>
          <p:cNvSpPr txBox="1"/>
          <p:nvPr/>
        </p:nvSpPr>
        <p:spPr>
          <a:xfrm>
            <a:off x="762000" y="5791200"/>
            <a:ext cx="2505075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050" noProof="1">
                <a:solidFill>
                  <a:srgbClr val="232A3D"/>
                </a:solidFill>
                <a:latin typeface="MiSans"/>
                <a:ea typeface="MiSans"/>
              </a:rPr>
              <a:t>AI 体验与研发 · 50%</a:t>
            </a:r>
          </a:p>
        </p:txBody>
      </p:sp>
      <p:sp>
        <p:nvSpPr>
          <p:cNvPr id="24" name="dsl:fchip2"/>
          <p:cNvSpPr/>
          <p:nvPr/>
        </p:nvSpPr>
        <p:spPr>
          <a:xfrm>
            <a:off x="3495675" y="5676900"/>
            <a:ext cx="2505075" cy="4191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fchip2t"/>
          <p:cNvSpPr txBox="1"/>
          <p:nvPr/>
        </p:nvSpPr>
        <p:spPr>
          <a:xfrm>
            <a:off x="3495675" y="5791200"/>
            <a:ext cx="2505075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050" noProof="1">
                <a:solidFill>
                  <a:srgbClr val="232A3D"/>
                </a:solidFill>
                <a:latin typeface="MiSans"/>
                <a:ea typeface="MiSans"/>
              </a:rPr>
              <a:t>内容与专家网络 · 20%</a:t>
            </a:r>
          </a:p>
        </p:txBody>
      </p:sp>
      <p:sp>
        <p:nvSpPr>
          <p:cNvPr id="26" name="dsl:fchip3"/>
          <p:cNvSpPr/>
          <p:nvPr/>
        </p:nvSpPr>
        <p:spPr>
          <a:xfrm>
            <a:off x="6229350" y="5676900"/>
            <a:ext cx="2505075" cy="4191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fchip3t"/>
          <p:cNvSpPr txBox="1"/>
          <p:nvPr/>
        </p:nvSpPr>
        <p:spPr>
          <a:xfrm>
            <a:off x="6229350" y="5791200"/>
            <a:ext cx="2505075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050" noProof="1">
                <a:solidFill>
                  <a:srgbClr val="232A3D"/>
                </a:solidFill>
                <a:latin typeface="MiSans"/>
                <a:ea typeface="MiSans"/>
              </a:rPr>
              <a:t>增长与品牌 · 20%</a:t>
            </a:r>
          </a:p>
        </p:txBody>
      </p:sp>
      <p:sp>
        <p:nvSpPr>
          <p:cNvPr id="28" name="dsl:fchip4"/>
          <p:cNvSpPr/>
          <p:nvPr/>
        </p:nvSpPr>
        <p:spPr>
          <a:xfrm>
            <a:off x="8963025" y="5676900"/>
            <a:ext cx="2505075" cy="419100"/>
          </a:xfrm>
          <a:prstGeom prst="rect">
            <a:avLst/>
          </a:prstGeom>
          <a:solidFill>
            <a:srgbClr val="FCFAF6"/>
          </a:solidFill>
          <a:ln w="12700">
            <a:solidFill>
              <a:srgbClr val="D8D5C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fchip4t"/>
          <p:cNvSpPr txBox="1"/>
          <p:nvPr/>
        </p:nvSpPr>
        <p:spPr>
          <a:xfrm>
            <a:off x="8963025" y="5791200"/>
            <a:ext cx="2505075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050" noProof="1">
                <a:solidFill>
                  <a:srgbClr val="232A3D"/>
                </a:solidFill>
                <a:latin typeface="MiSans"/>
                <a:ea typeface="MiSans"/>
              </a:rPr>
              <a:t>合规与安全 · 10%</a:t>
            </a:r>
          </a:p>
        </p:txBody>
      </p:sp>
      <p:sp>
        <p:nvSpPr>
          <p:cNvPr id="30" name="dsl:footer"/>
          <p:cNvSpPr txBox="1"/>
          <p:nvPr/>
        </p:nvSpPr>
        <p:spPr>
          <a:xfrm>
            <a:off x="762000" y="6553200"/>
            <a:ext cx="4000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825" noProof="1">
                <a:solidFill>
                  <a:srgbClr val="9AA0B0"/>
                </a:solidFill>
                <a:latin typeface="MiSans"/>
                <a:ea typeface="MiSans"/>
              </a:rPr>
              <a:t>LifeFork · 人生岔路 — 公测路演</a:t>
            </a:r>
          </a:p>
        </p:txBody>
      </p:sp>
      <p:sp>
        <p:nvSpPr>
          <p:cNvPr id="31" name="dsl:pageNum"/>
          <p:cNvSpPr txBox="1"/>
          <p:nvPr/>
        </p:nvSpPr>
        <p:spPr>
          <a:xfrm>
            <a:off x="10477500" y="6553200"/>
            <a:ext cx="952500" cy="1524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/>
            <a:r>
              <a:rPr sz="825" noProof="1">
                <a:solidFill>
                  <a:srgbClr val="9AA0B0"/>
                </a:solidFill>
                <a:latin typeface="Liter"/>
                <a:ea typeface="MiSan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rand"/>
          <p:cNvSpPr txBox="1"/>
          <p:nvPr/>
        </p:nvSpPr>
        <p:spPr>
          <a:xfrm>
            <a:off x="762000" y="590550"/>
            <a:ext cx="4000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 spc="300">
                <a:solidFill>
                  <a:srgbClr val="9BA3B5"/>
                </a:solidFill>
                <a:latin typeface="Liter"/>
                <a:ea typeface="MiSans"/>
              </a:rPr>
              <a:t>LIFEFORK · 人生岔路</a:t>
            </a:r>
          </a:p>
        </p:txBody>
      </p:sp>
      <p:sp>
        <p:nvSpPr>
          <p:cNvPr id="3" name="dsl:fmNode"/>
          <p:cNvSpPr/>
          <p:nvPr/>
        </p:nvSpPr>
        <p:spPr>
          <a:xfrm>
            <a:off x="8420100" y="1181100"/>
            <a:ext cx="114300" cy="114300"/>
          </a:xfrm>
          <a:prstGeom prst="ellipse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dsl:fmB1"/>
          <p:cNvCxnSpPr/>
          <p:nvPr/>
        </p:nvCxnSpPr>
        <p:spPr>
          <a:xfrm flipV="1">
            <a:off x="8534400" y="762000"/>
            <a:ext cx="1905000" cy="476250"/>
          </a:xfrm>
          <a:prstGeom prst="straightConnector1">
            <a:avLst/>
          </a:prstGeom>
          <a:ln w="25400">
            <a:solidFill>
              <a:srgbClr val="7B5EA7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fmB2"/>
          <p:cNvCxnSpPr/>
          <p:nvPr/>
        </p:nvCxnSpPr>
        <p:spPr>
          <a:xfrm>
            <a:off x="8534400" y="1238250"/>
            <a:ext cx="1905000" cy="0"/>
          </a:xfrm>
          <a:prstGeom prst="straightConnector1">
            <a:avLst/>
          </a:prstGeom>
          <a:ln w="25400">
            <a:solidFill>
              <a:srgbClr val="B08A3E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fmB3"/>
          <p:cNvCxnSpPr/>
          <p:nvPr/>
        </p:nvCxnSpPr>
        <p:spPr>
          <a:xfrm>
            <a:off x="8534400" y="1238250"/>
            <a:ext cx="1905000" cy="476250"/>
          </a:xfrm>
          <a:prstGeom prst="straightConnector1">
            <a:avLst/>
          </a:prstGeom>
          <a:ln w="25400">
            <a:solidFill>
              <a:srgbClr val="3D5A9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mN1"/>
          <p:cNvSpPr/>
          <p:nvPr/>
        </p:nvSpPr>
        <p:spPr>
          <a:xfrm>
            <a:off x="10382250" y="704850"/>
            <a:ext cx="95250" cy="9525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fmN2"/>
          <p:cNvSpPr/>
          <p:nvPr/>
        </p:nvSpPr>
        <p:spPr>
          <a:xfrm>
            <a:off x="10382250" y="1190625"/>
            <a:ext cx="95250" cy="95250"/>
          </a:xfrm>
          <a:prstGeom prst="ellipse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fmN3"/>
          <p:cNvSpPr/>
          <p:nvPr/>
        </p:nvSpPr>
        <p:spPr>
          <a:xfrm>
            <a:off x="10382250" y="1676400"/>
            <a:ext cx="95250" cy="95250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finalLine"/>
          <p:cNvSpPr txBox="1"/>
          <p:nvPr/>
        </p:nvSpPr>
        <p:spPr>
          <a:xfrm>
            <a:off x="762000" y="2819400"/>
            <a:ext cx="10668000" cy="647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3450" noProof="1">
                <a:solidFill>
                  <a:srgbClr val="EDEAE2"/>
                </a:solidFill>
                <a:latin typeface="siyuanSongti"/>
                <a:ea typeface="siyuanSongti"/>
              </a:rPr>
              <a:t>每一条路，都值得被认真看见。</a:t>
            </a:r>
          </a:p>
        </p:txBody>
      </p:sp>
      <p:sp>
        <p:nvSpPr>
          <p:cNvPr id="11" name="dsl:finalSub"/>
          <p:cNvSpPr txBox="1"/>
          <p:nvPr/>
        </p:nvSpPr>
        <p:spPr>
          <a:xfrm>
            <a:off x="762000" y="3714750"/>
            <a:ext cx="10668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1350" noProof="1">
                <a:solidFill>
                  <a:srgbClr val="9BA3B5"/>
                </a:solidFill>
                <a:latin typeface="MiSans"/>
                <a:ea typeface="MiSans"/>
              </a:rPr>
              <a:t>LifeFork · 人生岔路 —— 公测现已开放，打开浏览器即可开始</a:t>
            </a:r>
          </a:p>
        </p:txBody>
      </p:sp>
      <p:sp>
        <p:nvSpPr>
          <p:cNvPr id="12" name="dsl:ctaBtn"/>
          <p:cNvSpPr/>
          <p:nvPr/>
        </p:nvSpPr>
        <p:spPr>
          <a:xfrm>
            <a:off x="4667250" y="4438650"/>
            <a:ext cx="2857500" cy="514350"/>
          </a:xfrm>
          <a:prstGeom prst="rect">
            <a:avLst/>
          </a:prstGeom>
          <a:solidFill>
            <a:srgbClr val="161B29"/>
          </a:solidFill>
          <a:ln w="19050">
            <a:solidFill>
              <a:srgbClr val="B08A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taText"/>
          <p:cNvSpPr txBox="1"/>
          <p:nvPr/>
        </p:nvSpPr>
        <p:spPr>
          <a:xfrm>
            <a:off x="4667250" y="4591050"/>
            <a:ext cx="2857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b="1" sz="1275" noProof="1">
                <a:solidFill>
                  <a:srgbClr val="B08A3E"/>
                </a:solidFill>
                <a:latin typeface="MiSans"/>
                <a:ea typeface="MiSans"/>
              </a:rPr>
              <a:t>立即体验公开测试版</a:t>
            </a:r>
          </a:p>
        </p:txBody>
      </p:sp>
      <p:sp>
        <p:nvSpPr>
          <p:cNvPr id="14" name="dsl:ctaUrl"/>
          <p:cNvSpPr txBox="1"/>
          <p:nvPr/>
        </p:nvSpPr>
        <p:spPr>
          <a:xfrm>
            <a:off x="3238500" y="5143500"/>
            <a:ext cx="5715000" cy="1714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900" noProof="1">
                <a:solidFill>
                  <a:srgbClr val="9BA3B5"/>
                </a:solidFill>
                <a:latin typeface="Liter"/>
                <a:ea typeface="MiSans"/>
              </a:rPr>
              <a:t>lifefork-public-beta.poremansovir.chatgpt.site</a:t>
            </a:r>
          </a:p>
        </p:txBody>
      </p:sp>
      <p:sp>
        <p:nvSpPr>
          <p:cNvPr id="15" name="dsl:contact"/>
          <p:cNvSpPr txBox="1"/>
          <p:nvPr/>
        </p:nvSpPr>
        <p:spPr>
          <a:xfrm>
            <a:off x="762000" y="6019800"/>
            <a:ext cx="10668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/>
            <a:r>
              <a:rPr sz="975" noProof="1">
                <a:solidFill>
                  <a:srgbClr val="9BA3B5"/>
                </a:solidFill>
                <a:latin typeface="MiSans"/>
                <a:ea typeface="MiSans"/>
              </a:rPr>
              <a:t>投资与合作洽谈 · 欢迎会后交流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aper" value="#F7F4EE"/>
    <Color name="paperRaised" value="#FCFAF6"/>
    <Color name="ink" value="#232A3D"/>
    <Color name="muted" value="#6B7186"/>
    <Color name="faint" value="#9AA0B0"/>
    <Color name="line" value="#D8D5CC"/>
    <Color name="gold" value="#B08A3E"/>
    <Color name="goldSoft" value="#F0E8D8"/>
    <Color name="violet" value="#7B5EA7"/>
    <Color name="blue" value="#3D5A99"/>
    <Color name="map" value="#1D2333"/>
    <Color name="mapDeep" value="#161B29"/>
    <Color name="mapLine" value="#3A4358"/>
    <Color name="mapText" value="#EDEAE2"/>
    <Color name="mapMuted" value="#9BA3B5"/>
  </Colors>
  <TextStyles>
    <TextStyle name="kicker" font_size="13.0" color="$gold" font_family="Liter, MiSans" letter_spacing="4.0"/>
    <TextStyle name="title" font_size="32.0" color="$ink" font_family="siyuanSongti"/>
    <TextStyle name="titleDark" font_size="32.0" color="$mapText" font_family="siyuanSongti"/>
    <TextStyle name="body" font_size="18.0" color="$ink" font_family="MiSans" line_height="1.5"/>
    <TextStyle name="small" font_size="14.0" color="$muted" font_family="MiSans" line_height="1.45"/>
    <TextStyle name="number" font_size="52.0" color="$ink" font_family="Liter, MiSans"/>
  </TextStyles>
  <TableStyles>
    <TableStyle name="default" headerFill="$ink" headerColor="#F7F4EE" headerBold="true" bodyFill="#FCFAF6,#F3EFE6" bodyColor="$ink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BDA35CE5-B432-4410-8AC7-852B775D466E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